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043b11d86c4b40" /><Relationship Type="http://schemas.openxmlformats.org/officeDocument/2006/relationships/extended-properties" Target="/docProps/app.xml" Id="Re6b157f1ff164230" /><Relationship Type="http://schemas.openxmlformats.org/officeDocument/2006/relationships/officeDocument" Target="/ppt/presentation.xml" Id="R5e386313c14149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f24432e5a24c3a"/>
  </p:sldMasterIdLst>
  <p:notesMasterIdLst>
    <p:notesMasterId xmlns:r="http://schemas.openxmlformats.org/officeDocument/2006/relationships" r:id="R83c48843199648f8"/>
  </p:notesMasterIdLst>
  <p:sldIdLst>
    <p:sldId xmlns:r="http://schemas.openxmlformats.org/officeDocument/2006/relationships" id="256" r:id="Rf7f3da0041ba4c18"/>
    <p:sldId xmlns:r="http://schemas.openxmlformats.org/officeDocument/2006/relationships" id="257" r:id="Rb47270a803f94bbd"/>
    <p:sldId xmlns:r="http://schemas.openxmlformats.org/officeDocument/2006/relationships" id="258" r:id="R3a27e285c453436a"/>
    <p:sldId xmlns:r="http://schemas.openxmlformats.org/officeDocument/2006/relationships" id="259" r:id="R7a4b3cb58c1943e4"/>
    <p:sldId xmlns:r="http://schemas.openxmlformats.org/officeDocument/2006/relationships" id="260" r:id="Rc897d18f8d9a4e29"/>
    <p:sldId xmlns:r="http://schemas.openxmlformats.org/officeDocument/2006/relationships" id="261" r:id="R797ca2afcfc94fd2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1pPr>
    <a:lvl2pPr xmlns:a="http://schemas.openxmlformats.org/drawingml/2006/main" marL="4572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2pPr>
    <a:lvl3pPr xmlns:a="http://schemas.openxmlformats.org/drawingml/2006/main" marL="9144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3pPr>
    <a:lvl4pPr xmlns:a="http://schemas.openxmlformats.org/drawingml/2006/main" marL="13716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4pPr>
    <a:lvl5pPr xmlns:a="http://schemas.openxmlformats.org/drawingml/2006/main" marL="18288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5pPr>
    <a:lvl6pPr xmlns:a="http://schemas.openxmlformats.org/drawingml/2006/main" marL="22860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6pPr>
    <a:lvl7pPr xmlns:a="http://schemas.openxmlformats.org/drawingml/2006/main" marL="27432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7pPr>
    <a:lvl8pPr xmlns:a="http://schemas.openxmlformats.org/drawingml/2006/main" marL="32004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8pPr>
    <a:lvl9pPr xmlns:a="http://schemas.openxmlformats.org/drawingml/2006/main" marL="36576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4da5a6f57e451a" /><Relationship Type="http://schemas.openxmlformats.org/officeDocument/2006/relationships/slideMaster" Target="/ppt/slideMasters/slideMaster1.xml" Id="R60f24432e5a24c3a" /><Relationship Type="http://schemas.openxmlformats.org/officeDocument/2006/relationships/notesMaster" Target="/ppt/notesMasters/notesMaster1.xml" Id="R83c48843199648f8" /><Relationship Type="http://schemas.openxmlformats.org/officeDocument/2006/relationships/presProps" Target="/ppt/presProps.xml" Id="R753581bf8476469f" /><Relationship Type="http://schemas.openxmlformats.org/officeDocument/2006/relationships/viewProps" Target="/ppt/viewProps.xml" Id="Rd7734024a0f3452d" /><Relationship Type="http://schemas.openxmlformats.org/officeDocument/2006/relationships/tableStyles" Target="/ppt/tableStyles.xml" Id="R1069f4358e9f454c" /><Relationship Type="http://schemas.openxmlformats.org/officeDocument/2006/relationships/slide" Target="/ppt/slides/slide1.xml" Id="Rf7f3da0041ba4c18" /><Relationship Type="http://schemas.openxmlformats.org/officeDocument/2006/relationships/slide" Target="/ppt/slides/slide2.xml" Id="Rb47270a803f94bbd" /><Relationship Type="http://schemas.openxmlformats.org/officeDocument/2006/relationships/slide" Target="/ppt/slides/slide3.xml" Id="R3a27e285c453436a" /><Relationship Type="http://schemas.openxmlformats.org/officeDocument/2006/relationships/slide" Target="/ppt/slides/slide4.xml" Id="R7a4b3cb58c1943e4" /><Relationship Type="http://schemas.openxmlformats.org/officeDocument/2006/relationships/slide" Target="/ppt/slides/slide5.xml" Id="Rc897d18f8d9a4e29" /><Relationship Type="http://schemas.openxmlformats.org/officeDocument/2006/relationships/slide" Target="/ppt/slides/slide6.xml" Id="R797ca2afcfc94f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f5c3541b2144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8b568f263b47dd" /><Relationship Type="http://schemas.openxmlformats.org/officeDocument/2006/relationships/notesMaster" Target="/ppt/notesMasters/notesMaster1.xml" Id="Rdd2242356eee47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9174230c6b4bfc" /><Relationship Type="http://schemas.openxmlformats.org/officeDocument/2006/relationships/notesMaster" Target="/ppt/notesMasters/notesMaster1.xml" Id="R139820af34ce45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97e5f991134812" /><Relationship Type="http://schemas.openxmlformats.org/officeDocument/2006/relationships/notesMaster" Target="/ppt/notesMasters/notesMaster1.xml" Id="R3c603db418bf44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1e81fb61dc489d" /><Relationship Type="http://schemas.openxmlformats.org/officeDocument/2006/relationships/notesMaster" Target="/ppt/notesMasters/notesMaster1.xml" Id="Rb8eafd53c70649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17111210964961" /><Relationship Type="http://schemas.openxmlformats.org/officeDocument/2006/relationships/notesMaster" Target="/ppt/notesMasters/notesMaster1.xml" Id="Rf583b266bf3741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08d2adf9e34c25" /><Relationship Type="http://schemas.openxmlformats.org/officeDocument/2006/relationships/notesMaster" Target="/ppt/notesMasters/notesMaster1.xml" Id="R3216d7a5037e41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Handbook reconciliation: source AICTE Approval Process Handbook 2024–27, https://www.aicte.gov.in/sites/default/files/APH%20Final.pdf, PDF pp. 34–35, 70–71, 75–76. Ruleset 2026.10-handbook-capacity-2. Baseline 60/3/3 and candidate 80/4/4, same 84 synthetic records and zero occupancy: 65 and 73 accepted. Category checks are synthetic fixture assessments, not external verification. Candidate remains unapproved. Full input record is available in Policy Lab; no ledger writes. See ADR-0024.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Handbook reconciliation: source AICTE Approval Process Handbook 2024–27, https://www.aicte.gov.in/sites/default/files/APH%20Final.pdf, PDF pp. 34–35, 70–71, 75–76. Ruleset 2026.10-handbook-capacity-2. Baseline 60/3/3 and candidate 80/4/4, same 84 synthetic records and zero occupancy: 65 and 73 accepted. Category checks are synthetic fixture assessments, not external verification. Candidate remains unapproved. Full input record is available in Policy Lab; no ledger writes. See ADR-0024.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Handbook reconciliation: source AICTE Approval Process Handbook 2024–27, https://www.aicte.gov.in/sites/default/files/APH%20Final.pdf, PDF pp. 34–35, 70–71, 75–76. Ruleset 2026.10-handbook-capacity-2. Baseline 60/3/3 and candidate 80/4/4, same 84 synthetic records and zero occupancy: 65 and 73 accepted. Category checks are synthetic fixture assessments, not external verification. Candidate remains unapproved. Full input record is available in Policy Lab; no ledger writes. See ADR-0024.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Handbook reconciliation: source AICTE Approval Process Handbook 2024–27, https://www.aicte.gov.in/sites/default/files/APH%20Final.pdf, PDF pp. 34–35, 70–71, 75–76. Ruleset 2026.10-handbook-capacity-2. Baseline 60/3/3 and candidate 80/4/4, same 84 synthetic records and zero occupancy: 65 and 73 accepted. Category checks are synthetic fixture assessments, not external verification. Candidate remains unapproved. Full input record is available in Policy Lab; no ledger writes. See ADR-0024.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Handbook reconciliation: source AICTE Approval Process Handbook 2024–27, https://www.aicte.gov.in/sites/default/files/APH%20Final.pdf, PDF pp. 34–35, 70–71, 75–76. Ruleset 2026.10-handbook-capacity-2. Baseline 60/3/3 and candidate 80/4/4, same 84 synthetic records and zero occupancy: 65 and 73 accepted. Category checks are synthetic fixture assessments, not external verification. Candidate remains unapproved. Full input record is available in Policy Lab; no ledger writes. See ADR-0024.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Handbook reconciliation: source AICTE Approval Process Handbook 2024–27, https://www.aicte.gov.in/sites/default/files/APH%20Final.pdf, PDF pp. 34–35, 70–71, 75–76. Ruleset 2026.10-handbook-capacity-2. Baseline 60/3/3 and candidate 80/4/4, same 84 synthetic records and zero occupancy: 65 and 73 accepted. Category checks are synthetic fixture assessments, not external verification. Candidate remains unapproved. Full input record is available in Policy Lab; no ledger writes. See ADR-0024.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cd4f8f09a4b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9de2e03e9f46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bab70f472643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07255d29440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c9370b65a46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4efebf62a049b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6fc38a694f4f5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04d077c05465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b4f305cb8413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4f591578c438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5356496e74ed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123327-D056-414B-904D-404525113A1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C331F95-81B0-46E7-B62A-E0A345CFFC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1A67EE-CA96-4F22-89C4-2CC4486E49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B24AA9-4094-4AB4-904A-B42C35585C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4603A8-572F-47A3-8670-44B6C5B47D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F9FB42-6850-455C-A80A-E3D948AA2D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A4D2BF1-E981-4417-8E12-2855B2C7E0F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EC25E1-2A05-4A2F-A1DC-ED4FF15037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591060-AE48-4A70-8624-FBD1A82A87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A5E7FB3-F188-4AD9-80B6-11BEC22697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8B4FB6-F777-489D-9CDF-518C2DD931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F523B3-31E1-4C1F-B420-AB769A54EC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9983D8-A9CD-4B69-ADF5-F3272ACFB6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A6DFA0-E13C-4F32-909A-38084CC4B9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3AC7404-60D0-4C0F-B4B6-F3837119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25145E-9FA5-4F7A-83DE-59909471D6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9F35D3F-AD05-4ACA-B26F-D0C70F8C3D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8D3F6AF-7FA3-43FF-8FFF-5BDE0E68937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8874A3-B17B-45C0-B47E-02D89E2CAB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69B843-17F1-4526-B716-2027D8D92E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FC961A-452E-4086-8CA4-574FE1CBFD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5FB1F0-7EF5-414B-9B8D-34E8827337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1E79C2E-30D5-4627-BE00-5B3447862A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9175307-CD63-4C34-980B-8E43E1ACAEC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140B3CB-27E6-41E5-84A1-8B3DDAE26DE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CB6782D-19E9-4684-903F-B96334957A7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94B5FA-3FF0-4437-BC3E-B5C81846BA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940AF0-0C54-469A-A669-66F4C918D8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FBDD70-7538-4B19-BC0C-EC2FBBE431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B7631A-DC12-41AB-857A-4499B13130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25ABF9-B4DA-4F99-91E4-81AF6744E9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4E465F-D90F-465F-8D40-0170CEC452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2A1D66-33DF-4635-BF89-D783EAE0B4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CF4C1B-3D24-4FE0-A945-8057FA8656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4B49BB-57ED-4246-A0E8-8364F136B4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DE95DD3-ED1B-4DE1-9B60-B0D2EA87FD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19195A-FE94-44F6-AE9B-208A0BAB58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DD0169-B6AD-4BCA-A7FD-B15E390D5F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51B77F4-0688-421A-AED0-6FC8777084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C9A182-AA92-4624-9F72-754328B53D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93901D-BE5C-4D47-89A2-9C0CB2C56D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AEE827-5E23-48CC-BA68-47BBC59DF5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EC0981-ED61-4638-BFD9-EFAA024447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87F08EF-075D-45E2-9B43-1E848FEB043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F8339EE-AF6B-495B-891C-5CE3061A5A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2D5B3E-6ACB-4B9E-A940-8985293FF6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92429D-418C-4375-9E7F-EC4A447528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AD7997-7C81-427A-92D0-D5EB7911F8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7D2EDB-0D1A-4238-846B-02431ABDA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419AC7-1E14-486F-81BA-5F287F267B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344B8D-6DB4-4DE4-B57F-41D311BD1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614EBB2-BCBD-4380-B52F-B89FB3C492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3AA0E0-AB85-4AA7-ADFC-2AE53961FC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949DADA-0D17-4013-AE2F-141D89ADFF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1DE8119-D6D4-444B-8DFC-2F22759F8D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49D815-AE24-4450-AEDC-E754A69D0A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4B2774-6536-49C6-BF59-7080C70127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C0F77C-A846-4BB4-9184-3F9BB5D02C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6c082a75d64a19" /><Relationship Type="http://schemas.openxmlformats.org/officeDocument/2006/relationships/slideLayout" Target="/ppt/slideLayouts/slideLayout1.xml" Id="R36618217700c46b4" /><Relationship Type="http://schemas.openxmlformats.org/officeDocument/2006/relationships/slideLayout" Target="/ppt/slideLayouts/slideLayout2.xml" Id="R719dc14b6581471f" /><Relationship Type="http://schemas.openxmlformats.org/officeDocument/2006/relationships/slideLayout" Target="/ppt/slideLayouts/slideLayout3.xml" Id="Re84e9aca3a104998" /><Relationship Type="http://schemas.openxmlformats.org/officeDocument/2006/relationships/slideLayout" Target="/ppt/slideLayouts/slideLayout4.xml" Id="Rb4c8888edf764957" /><Relationship Type="http://schemas.openxmlformats.org/officeDocument/2006/relationships/slideLayout" Target="/ppt/slideLayouts/slideLayout5.xml" Id="Rd9c9f37678294bac" /><Relationship Type="http://schemas.openxmlformats.org/officeDocument/2006/relationships/slideLayout" Target="/ppt/slideLayouts/slideLayout6.xml" Id="Rd475ed7e201843aa" /><Relationship Type="http://schemas.openxmlformats.org/officeDocument/2006/relationships/slideLayout" Target="/ppt/slideLayouts/slideLayout7.xml" Id="R1d8fdd7d0f224281" /><Relationship Type="http://schemas.openxmlformats.org/officeDocument/2006/relationships/slideLayout" Target="/ppt/slideLayouts/slideLayout8.xml" Id="Rdbe85e492c474078" /><Relationship Type="http://schemas.openxmlformats.org/officeDocument/2006/relationships/slideLayout" Target="/ppt/slideLayouts/slideLayout9.xml" Id="Reafae222b7b54d4b" /><Relationship Type="http://schemas.openxmlformats.org/officeDocument/2006/relationships/slideLayout" Target="/ppt/slideLayouts/slideLayout10.xml" Id="Ra7261ceb5b4c4487" /><Relationship Type="http://schemas.openxmlformats.org/officeDocument/2006/relationships/slideLayout" Target="/ppt/slideLayouts/slideLayout11.xml" Id="R5fc0a1462580495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02D02DC-F313-405E-9A0F-2DCA6F7B92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5EF71A-6934-4CBE-BFFB-C196C79EDB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4C823B-D1EE-4F2D-9301-B1CE71238AF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DC5E0D8-8CE7-4CE5-91BA-D33D7AF84FD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248899-F49E-4675-8AB1-D80A30C64E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618217700c46b4"/>
    <p:sldLayoutId xmlns:r="http://schemas.openxmlformats.org/officeDocument/2006/relationships" id="2147483650" r:id="R719dc14b6581471f"/>
    <p:sldLayoutId xmlns:r="http://schemas.openxmlformats.org/officeDocument/2006/relationships" id="2147483651" r:id="Re84e9aca3a104998"/>
    <p:sldLayoutId xmlns:r="http://schemas.openxmlformats.org/officeDocument/2006/relationships" id="2147483652" r:id="Rb4c8888edf764957"/>
    <p:sldLayoutId xmlns:r="http://schemas.openxmlformats.org/officeDocument/2006/relationships" id="2147483653" r:id="Rd9c9f37678294bac"/>
    <p:sldLayoutId xmlns:r="http://schemas.openxmlformats.org/officeDocument/2006/relationships" id="2147483654" r:id="Rd475ed7e201843aa"/>
    <p:sldLayoutId xmlns:r="http://schemas.openxmlformats.org/officeDocument/2006/relationships" id="2147483655" r:id="R1d8fdd7d0f224281"/>
    <p:sldLayoutId xmlns:r="http://schemas.openxmlformats.org/officeDocument/2006/relationships" id="2147483656" r:id="Rdbe85e492c474078"/>
    <p:sldLayoutId xmlns:r="http://schemas.openxmlformats.org/officeDocument/2006/relationships" id="2147483657" r:id="Reafae222b7b54d4b"/>
    <p:sldLayoutId xmlns:r="http://schemas.openxmlformats.org/officeDocument/2006/relationships" id="2147483658" r:id="Ra7261ceb5b4c4487"/>
    <p:sldLayoutId xmlns:r="http://schemas.openxmlformats.org/officeDocument/2006/relationships" id="2147483659" r:id="R5fc0a14625804952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8c0007e3547bf" /><Relationship Type="http://schemas.openxmlformats.org/officeDocument/2006/relationships/image" Target="/ppt/media/image.jpeg" Id="R6cd9a2cb556e4bb9" /><Relationship Type="http://schemas.openxmlformats.org/officeDocument/2006/relationships/image" Target="/ppt/media/image.png" Id="R90413c80fb4d4f4c" /><Relationship Type="http://schemas.openxmlformats.org/officeDocument/2006/relationships/image" Target="/ppt/media/image2.jpeg" Id="R08c01f7f59884287" /><Relationship Type="http://schemas.openxmlformats.org/officeDocument/2006/relationships/image" Target="/ppt/media/image3.jpeg" Id="R53ee8abdf6994f59" /><Relationship Type="http://schemas.openxmlformats.org/officeDocument/2006/relationships/notesSlide" Target="/ppt/notesSlides/notesSlide1.xml" Id="R3b009a6e6a1143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b8abde6c454851" /><Relationship Type="http://schemas.openxmlformats.org/officeDocument/2006/relationships/image" Target="/ppt/media/image.png" Id="R3574b078ac7644dd" /><Relationship Type="http://schemas.openxmlformats.org/officeDocument/2006/relationships/notesSlide" Target="/ppt/notesSlides/notesSlide2.xml" Id="Rf83107b789984a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d1f4f1bf884a7b" /><Relationship Type="http://schemas.openxmlformats.org/officeDocument/2006/relationships/image" Target="/ppt/media/image.png" Id="Rb7b61b1193ea4a0b" /><Relationship Type="http://schemas.openxmlformats.org/officeDocument/2006/relationships/image" Target="/ppt/media/image4.jpeg" Id="R04b7a6774bd84396" /><Relationship Type="http://schemas.openxmlformats.org/officeDocument/2006/relationships/image" Target="/ppt/media/image5.jpeg" Id="Rc2bb1112c83644f2" /><Relationship Type="http://schemas.openxmlformats.org/officeDocument/2006/relationships/image" Target="/ppt/media/image6.jpeg" Id="R098caca14a1f4ee2" /><Relationship Type="http://schemas.openxmlformats.org/officeDocument/2006/relationships/image" Target="/ppt/media/image7.jpeg" Id="R551972f24c404175" /><Relationship Type="http://schemas.openxmlformats.org/officeDocument/2006/relationships/notesSlide" Target="/ppt/notesSlides/notesSlide3.xml" Id="R94f6b87732c048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c2885cae394489" /><Relationship Type="http://schemas.openxmlformats.org/officeDocument/2006/relationships/image" Target="/ppt/media/image.png" Id="R8b8a635746064b8e" /><Relationship Type="http://schemas.openxmlformats.org/officeDocument/2006/relationships/notesSlide" Target="/ppt/notesSlides/notesSlide4.xml" Id="R172617d5037846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90b620eacc4e44" /><Relationship Type="http://schemas.openxmlformats.org/officeDocument/2006/relationships/image" Target="/ppt/media/image.png" Id="R180d91c9710a4c32" /><Relationship Type="http://schemas.openxmlformats.org/officeDocument/2006/relationships/chart" Target="/ppt/slides/charts/chart1.xml" Id="R1517519c8dec4fba" /><Relationship Type="http://schemas.openxmlformats.org/officeDocument/2006/relationships/image" Target="/ppt/media/image8.jpeg" Id="R63ed576f9be248da" /><Relationship Type="http://schemas.openxmlformats.org/officeDocument/2006/relationships/image" Target="/ppt/media/image9.jpeg" Id="R3ea45d37ea0546f7" /><Relationship Type="http://schemas.openxmlformats.org/officeDocument/2006/relationships/notesSlide" Target="/ppt/notesSlides/notesSlide5.xml" Id="Rf894553686344b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3af0799aeb4c5e" /><Relationship Type="http://schemas.openxmlformats.org/officeDocument/2006/relationships/image" Target="/ppt/media/image.png" Id="R1f6683ef91c54491" /><Relationship Type="http://schemas.openxmlformats.org/officeDocument/2006/relationships/image" Target="/ppt/media/image2.png" Id="Rbcbbd5f129254abf" /><Relationship Type="http://schemas.openxmlformats.org/officeDocument/2006/relationships/notesSlide" Target="/ppt/notesSlides/notesSlide6.xml" Id="Rcf8d4eed28db473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Accepted records (synthetic)</a:t>
            </a:r>
          </a:p>
        </c:rich>
      </c:tx>
      <c:overlay val="0"/>
    </c:title>
    <c:plotArea>
      <c:barChart>
        <c:barDir val="col"/>
        <c:varyColors val="0"/>
        <c:ser>
          <c:idx val="0"/>
          <c:order val="0"/>
          <c:tx>
            <c:v>Accepted records under stated assumptions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Source-aligned baseline</c:v>
                </c:pt>
                <c:pt idx="1">
                  <c:v>Proposed configuration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65</c:v>
                </c:pt>
                <c:pt idx="1">
                  <c:v>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4E3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Synthetic 84-record cohort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4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1"/>
      </c:valAx>
    </c:plotArea>
    <c:plotVisOnly val="1"/>
  </c:chart>
  <c:externalData xmlns:r="http://schemas.openxmlformats.org/officeDocument/2006/relationships"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57663C22-0E7D-46CA-B32E-25AD451BFD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d9a2cb556e4bb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81750" y="1952625"/>
            <a:ext cx="4905375" cy="3238500"/>
          </a:xfrm>
          <a:prstGeom xmlns:a="http://schemas.openxmlformats.org/drawingml/2006/main" prst="rect">
            <a:avLst/>
          </a:prstGeom>
        </p:spPr>
      </p:pic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B5F0C3A3-736B-496D-8D61-FC277690862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619250" y="209550"/>
            <a:ext cx="7715250" cy="619125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31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defPPr>
            <a:lvl1pPr algn="ctr">
              <a:buNone/>
              <a:defRPr sz="37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lvl1pPr>
            <a:lvl2pPr algn="ctr">
              <a:buNone/>
              <a:defRPr sz="37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lvl2pPr>
            <a:lvl3pPr algn="ctr">
              <a:buNone/>
              <a:defRPr sz="37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lvl3pPr>
            <a:lvl4pPr algn="ctr">
              <a:buNone/>
              <a:defRPr sz="37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lvl4pPr>
            <a:lvl5pPr algn="ctr">
              <a:buNone/>
              <a:defRPr sz="37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lvl5pPr>
            <a:lvl6pPr algn="ctr">
              <a:buNone/>
              <a:defRPr sz="37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lvl6pPr>
            <a:lvl7pPr algn="ctr">
              <a:buNone/>
              <a:defRPr sz="37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lvl7pPr>
            <a:lvl8pPr algn="ctr">
              <a:buNone/>
              <a:defRPr sz="37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lvl8pPr>
            <a:lvl9pPr algn="ctr">
              <a:buNone/>
              <a:defRPr sz="37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ctr">
              <a:buNone/>
              <a:defRPr sz="3150" b="1">
                <a:solidFill>
                  <a:srgbClr val="143B65"/>
                </a:solidFill>
                <a:latin typeface="Garamond"/>
                <a:ea typeface="Garamond"/>
                <a:cs typeface="Garamond"/>
              </a:defRPr>
            </a:pPr>
            <a:r>
              <a:rPr sz="3150" b="1">
                <a:solidFill>
                  <a:srgbClr val="143B65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291DC916-B0F6-41FB-8B80-6048630C73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13c80fb4d4f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88BFF1-46BB-4B50-959A-FDA8815D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8300"/>
            <a:ext cx="3714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LOCALLY TESTED · SYNTHETIC RECORDS</a:t>
            </a:r>
          </a:p>
        </p:txBody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A8FC1B-3D9D-4509-B84E-7241DAFBF6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01f7f598842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952625"/>
            <a:ext cx="4905375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E09A4E-B6A5-4622-8638-C1E34D95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340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Verify the record. Apply the rule. Protect the seat.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0E88EB-9DEF-4831-9A4A-38E100B3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8763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NiyamSetu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0146E0-2139-4EA1-9B0B-679BFF42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5238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033"/>
                </a:solidFill>
                <a:latin typeface="Arial"/>
                <a:ea typeface="Arial"/>
                <a:cs typeface="Arial"/>
              </a:rPr>
              <a:t>Problem Statement 26263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033"/>
                </a:solidFill>
                <a:latin typeface="Arial"/>
                <a:ea typeface="Arial"/>
                <a:cs typeface="Arial"/>
              </a:rPr>
              <a:t>Development of an APAAR ID-Based Student Data Management and Verification Platform for AICTE-Approved Institutions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033"/>
                </a:solidFill>
                <a:latin typeface="Arial"/>
                <a:ea typeface="Arial"/>
                <a:cs typeface="Arial"/>
              </a:rPr>
              <a:t>Theme  Smart Automation</a:t>
            </a:r>
          </a:p>
          <a:p xmlns:a="http://schemas.openxmlformats.org/drawingml/2006/main">
            <a:pPr>
              <a:buNone/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033"/>
                </a:solidFill>
                <a:latin typeface="Arial"/>
                <a:ea typeface="Arial"/>
                <a:cs typeface="Arial"/>
              </a:rPr>
              <a:t>Category  Software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033"/>
                </a:solidFill>
                <a:latin typeface="Arial"/>
                <a:ea typeface="Arial"/>
                <a:cs typeface="Arial"/>
              </a:rPr>
              <a:t>Team  ASTRAL</a:t>
            </a:r>
          </a:p>
          <a:p xmlns:a="http://schemas.openxmlformats.org/drawingml/2006/main">
            <a:pPr>
              <a:buNone/>
              <a:defRPr sz="157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033"/>
                </a:solidFill>
                <a:latin typeface="Arial"/>
                <a:ea typeface="Arial"/>
                <a:cs typeface="Arial"/>
              </a:rPr>
              <a:t>Team ID  Not yet assigned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F4C00B-5257-4937-B48C-F25A73E9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314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245B9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5B94"/>
                </a:solidFill>
                <a:latin typeface="Arial"/>
                <a:ea typeface="Arial"/>
                <a:cs typeface="Arial"/>
              </a:rPr>
              <a:t>Admission Integrity &amp; Policy Registry</a:t>
            </a:r>
          </a:p>
        </p:txBody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FF2942-3548-4425-AD6A-B47D4FD6F6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e8abdf6994f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952625"/>
            <a:ext cx="4905375" cy="323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810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F505ECD-35BE-40FD-9C73-D58BF432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CCA1E7B8-E9BE-403F-8D1B-DDBF74E552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/>
            </a:r>
            <a:br>
              <a:rPr sz="3600" b="1">
                <a:latin typeface="Times New Roman"/>
                <a:ea typeface="Times New Roman"/>
                <a:cs typeface="Times New Roman"/>
              </a:rPr>
            </a:br>
            <a:r>
              <a:rPr sz="3600" b="1">
                <a:latin typeface="Times New Roman"/>
                <a:ea typeface="Times New Roman"/>
                <a:cs typeface="Times New Roman"/>
              </a:rPr>
              <a:t>IDEA TITLE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7A5859-D2D1-4699-A715-8442C839B5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F70B2CA-3EDA-49F3-B541-34EA4ABA75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FFFFFF"/>
                </a:solidFill>
              </a:defRPr>
            </a:defPPr>
            <a:lvl1pPr algn="ctr">
              <a:buNone/>
              <a:defRPr sz="975">
                <a:solidFill>
                  <a:srgbClr val="FFFFFF"/>
                </a:solidFill>
              </a:defRPr>
            </a:lvl1pPr>
            <a:lvl2pPr algn="ctr">
              <a:buNone/>
              <a:defRPr sz="975">
                <a:solidFill>
                  <a:srgbClr val="FFFFFF"/>
                </a:solidFill>
              </a:defRPr>
            </a:lvl2pPr>
            <a:lvl3pPr algn="ctr">
              <a:buNone/>
              <a:defRPr sz="975">
                <a:solidFill>
                  <a:srgbClr val="FFFFFF"/>
                </a:solidFill>
              </a:defRPr>
            </a:lvl3pPr>
            <a:lvl4pPr algn="ctr">
              <a:buNone/>
              <a:defRPr sz="975">
                <a:solidFill>
                  <a:srgbClr val="FFFFFF"/>
                </a:solidFill>
              </a:defRPr>
            </a:lvl4pPr>
            <a:lvl5pPr algn="ctr">
              <a:buNone/>
              <a:defRPr sz="975">
                <a:solidFill>
                  <a:srgbClr val="FFFFFF"/>
                </a:solidFill>
              </a:defRPr>
            </a:lvl5pPr>
            <a:lvl6pPr algn="ctr">
              <a:buNone/>
              <a:defRPr sz="975">
                <a:solidFill>
                  <a:srgbClr val="FFFFFF"/>
                </a:solidFill>
              </a:defRPr>
            </a:lvl6pPr>
            <a:lvl7pPr algn="ctr">
              <a:buNone/>
              <a:defRPr sz="975">
                <a:solidFill>
                  <a:srgbClr val="FFFFFF"/>
                </a:solidFill>
              </a:defRPr>
            </a:lvl7pPr>
            <a:lvl8pPr algn="ctr">
              <a:buNone/>
              <a:defRPr sz="975">
                <a:solidFill>
                  <a:srgbClr val="FFFFFF"/>
                </a:solidFill>
              </a:defRPr>
            </a:lvl8pPr>
            <a:lvl9pPr algn="ctr">
              <a:buNone/>
              <a:defRPr sz="975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PS 26263  |  NiyamSetu  |  2/6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ASTRAL</a:t>
            </a:r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20DEF9E6-C0F3-463F-B776-67DEAD65C9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4b078ac76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3" name="">
            <a:extLst xmlns:a="http://schemas.openxmlformats.org/drawingml/2006/main">
              <a:ext uri="{FF2B5EF4-FFF2-40B4-BE49-F238E27FC236}">
                <a16:creationId xmlns:a16="http://schemas.microsoft.com/office/drawing/2014/main" id="{4F7A119F-C751-467A-A477-E1788C8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430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FROM ANNUAL TOTALS TO A VERIFIABLE ADMISSION LEDGER</a:t>
            </a:r>
          </a:p>
        </p:txBody>
      </p:sp>
      <p:sp>
        <p:nvSpPr>
          <p:cNvPr id="15364" name="">
            <a:extLst xmlns:a="http://schemas.openxmlformats.org/drawingml/2006/main">
              <a:ext uri="{FF2B5EF4-FFF2-40B4-BE49-F238E27FC236}">
                <a16:creationId xmlns:a16="http://schemas.microsoft.com/office/drawing/2014/main" id="{60D34A81-C93C-4B14-84E4-CB83CF5C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143250" cy="3095625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11430">
            <a:solidFill>
              <a:srgbClr val="FED7AA"/>
            </a:solidFill>
            <a:prstDash val="solid"/>
          </a:ln>
        </p:spPr>
      </p:sp>
      <p:sp>
        <p:nvSpPr>
          <p:cNvPr id="15365" name="">
            <a:extLst xmlns:a="http://schemas.openxmlformats.org/drawingml/2006/main">
              <a:ext uri="{FF2B5EF4-FFF2-40B4-BE49-F238E27FC236}">
                <a16:creationId xmlns:a16="http://schemas.microsoft.com/office/drawing/2014/main" id="{2A403410-E7B1-490F-958A-9FCEC77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6A00"/>
                </a:solidFill>
                <a:latin typeface="Arial"/>
                <a:ea typeface="Arial"/>
                <a:cs typeface="Arial"/>
              </a:rPr>
              <a:t>TODAY'S FAILURE CHAIN</a:t>
            </a:r>
          </a:p>
        </p:txBody>
      </p:sp>
      <p:sp>
        <p:nvSpPr>
          <p:cNvPr id="15366" name="">
            <a:extLst xmlns:a="http://schemas.openxmlformats.org/drawingml/2006/main">
              <a:ext uri="{FF2B5EF4-FFF2-40B4-BE49-F238E27FC236}">
                <a16:creationId xmlns:a16="http://schemas.microsoft.com/office/drawing/2014/main" id="{00226B25-D001-4467-BB3C-BE0BE369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6289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033"/>
                </a:solidFill>
                <a:latin typeface="Arial"/>
                <a:ea typeface="Arial"/>
                <a:cs typeface="Arial"/>
              </a:rPr>
              <a:t>Fragmented 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033"/>
                </a:solidFill>
                <a:latin typeface="Arial"/>
                <a:ea typeface="Arial"/>
                <a:cs typeface="Arial"/>
              </a:rPr>
              <a:t>Student identity gaps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033"/>
                </a:solidFill>
                <a:latin typeface="Arial"/>
                <a:ea typeface="Arial"/>
                <a:cs typeface="Arial"/>
              </a:rPr>
              <a:t>Late intake reconciliation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033"/>
                </a:solidFill>
                <a:latin typeface="Arial"/>
                <a:ea typeface="Arial"/>
                <a:cs typeface="Arial"/>
              </a:rPr>
              <a:t>Duplicate or excess enrolment discovered after the fact</a:t>
            </a:r>
          </a:p>
        </p:txBody>
      </p:sp>
      <p:sp>
        <p:nvSpPr>
          <p:cNvPr id="15367" name="">
            <a:extLst xmlns:a="http://schemas.openxmlformats.org/drawingml/2006/main">
              <a:ext uri="{FF2B5EF4-FFF2-40B4-BE49-F238E27FC236}">
                <a16:creationId xmlns:a16="http://schemas.microsoft.com/office/drawing/2014/main" id="{109F8FF5-2425-4C1F-BCB5-83F3E883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5737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9CC7E6"/>
            </a:solidFill>
            <a:prstDash val="solid"/>
          </a:ln>
        </p:spPr>
      </p:sp>
      <p:sp>
        <p:nvSpPr>
          <p:cNvPr id="15368" name="">
            <a:extLst xmlns:a="http://schemas.openxmlformats.org/drawingml/2006/main">
              <a:ext uri="{FF2B5EF4-FFF2-40B4-BE49-F238E27FC236}">
                <a16:creationId xmlns:a16="http://schemas.microsoft.com/office/drawing/2014/main" id="{CE4CF5CF-2710-4C77-9DF4-2F5F5AC7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907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369" name="">
            <a:extLst xmlns:a="http://schemas.openxmlformats.org/drawingml/2006/main">
              <a:ext uri="{FF2B5EF4-FFF2-40B4-BE49-F238E27FC236}">
                <a16:creationId xmlns:a16="http://schemas.microsoft.com/office/drawing/2014/main" id="{63885F22-BCA0-40F6-AEAF-1CE50855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97167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Versioned upload</a:t>
            </a:r>
          </a:p>
        </p:txBody>
      </p:sp>
      <p:sp>
        <p:nvSpPr>
          <p:cNvPr id="15370" name="">
            <a:extLst xmlns:a="http://schemas.openxmlformats.org/drawingml/2006/main">
              <a:ext uri="{FF2B5EF4-FFF2-40B4-BE49-F238E27FC236}">
                <a16:creationId xmlns:a16="http://schemas.microsoft.com/office/drawing/2014/main" id="{B02CFBDA-6B47-4EC2-BE8D-EEC70C28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5737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9CC7E6"/>
            </a:solidFill>
            <a:prstDash val="solid"/>
          </a:ln>
        </p:spPr>
      </p:sp>
      <p:sp>
        <p:nvSpPr>
          <p:cNvPr id="15371" name="">
            <a:extLst xmlns:a="http://schemas.openxmlformats.org/drawingml/2006/main">
              <a:ext uri="{FF2B5EF4-FFF2-40B4-BE49-F238E27FC236}">
                <a16:creationId xmlns:a16="http://schemas.microsoft.com/office/drawing/2014/main" id="{C3FFF79F-1400-43DC-85F4-88E0BA18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9907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372" name="">
            <a:extLst xmlns:a="http://schemas.openxmlformats.org/drawingml/2006/main">
              <a:ext uri="{FF2B5EF4-FFF2-40B4-BE49-F238E27FC236}">
                <a16:creationId xmlns:a16="http://schemas.microsoft.com/office/drawing/2014/main" id="{1C26F2A3-DA18-4306-899B-EB17E1CB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7167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APAAR adapter</a:t>
            </a:r>
          </a:p>
        </p:txBody>
      </p:sp>
      <p:sp>
        <p:nvSpPr>
          <p:cNvPr id="15373" name="">
            <a:extLst xmlns:a="http://schemas.openxmlformats.org/drawingml/2006/main">
              <a:ext uri="{FF2B5EF4-FFF2-40B4-BE49-F238E27FC236}">
                <a16:creationId xmlns:a16="http://schemas.microsoft.com/office/drawing/2014/main" id="{4263A3DA-C9FF-4C9A-8178-19BAE9F7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5737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9CC7E6"/>
            </a:solidFill>
            <a:prstDash val="solid"/>
          </a:ln>
        </p:spPr>
      </p:sp>
      <p:sp>
        <p:nvSpPr>
          <p:cNvPr id="15374" name="">
            <a:extLst xmlns:a="http://schemas.openxmlformats.org/drawingml/2006/main">
              <a:ext uri="{FF2B5EF4-FFF2-40B4-BE49-F238E27FC236}">
                <a16:creationId xmlns:a16="http://schemas.microsoft.com/office/drawing/2014/main" id="{5692FCE0-BAD1-4355-BDA5-D6D548B1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907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375" name="">
            <a:extLst xmlns:a="http://schemas.openxmlformats.org/drawingml/2006/main">
              <a:ext uri="{FF2B5EF4-FFF2-40B4-BE49-F238E27FC236}">
                <a16:creationId xmlns:a16="http://schemas.microsoft.com/office/drawing/2014/main" id="{04B51A25-9F98-4F66-A46C-91409111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7167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Policy decision</a:t>
            </a:r>
          </a:p>
        </p:txBody>
      </p:sp>
      <p:sp>
        <p:nvSpPr>
          <p:cNvPr id="15376" name="">
            <a:extLst xmlns:a="http://schemas.openxmlformats.org/drawingml/2006/main">
              <a:ext uri="{FF2B5EF4-FFF2-40B4-BE49-F238E27FC236}">
                <a16:creationId xmlns:a16="http://schemas.microsoft.com/office/drawing/2014/main" id="{BEDF0F8D-25A2-48F1-A609-843A7CBB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1942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9CC7E6"/>
            </a:solidFill>
            <a:prstDash val="solid"/>
          </a:ln>
        </p:spPr>
      </p:sp>
      <p:sp>
        <p:nvSpPr>
          <p:cNvPr id="15377" name="">
            <a:extLst xmlns:a="http://schemas.openxmlformats.org/drawingml/2006/main">
              <a:ext uri="{FF2B5EF4-FFF2-40B4-BE49-F238E27FC236}">
                <a16:creationId xmlns:a16="http://schemas.microsoft.com/office/drawing/2014/main" id="{37C8FF38-9CF3-4D5C-8D27-E0C90D4A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152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378" name="">
            <a:extLst xmlns:a="http://schemas.openxmlformats.org/drawingml/2006/main">
              <a:ext uri="{FF2B5EF4-FFF2-40B4-BE49-F238E27FC236}">
                <a16:creationId xmlns:a16="http://schemas.microsoft.com/office/drawing/2014/main" id="{9ABAF34F-F1F0-46B6-A79E-88616447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3372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Seat protected</a:t>
            </a:r>
          </a:p>
        </p:txBody>
      </p:sp>
      <p:sp>
        <p:nvSpPr>
          <p:cNvPr id="15379" name="">
            <a:extLst xmlns:a="http://schemas.openxmlformats.org/drawingml/2006/main">
              <a:ext uri="{FF2B5EF4-FFF2-40B4-BE49-F238E27FC236}">
                <a16:creationId xmlns:a16="http://schemas.microsoft.com/office/drawing/2014/main" id="{7F1CE375-24C9-491B-BFE4-EEFB001C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1942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9CC7E6"/>
            </a:solidFill>
            <a:prstDash val="solid"/>
          </a:ln>
        </p:spPr>
      </p:sp>
      <p:sp>
        <p:nvSpPr>
          <p:cNvPr id="15380" name="">
            <a:extLst xmlns:a="http://schemas.openxmlformats.org/drawingml/2006/main">
              <a:ext uri="{FF2B5EF4-FFF2-40B4-BE49-F238E27FC236}">
                <a16:creationId xmlns:a16="http://schemas.microsoft.com/office/drawing/2014/main" id="{CCCC75EB-67BA-4D14-B449-7721F9F6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52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381" name="">
            <a:extLst xmlns:a="http://schemas.openxmlformats.org/drawingml/2006/main">
              <a:ext uri="{FF2B5EF4-FFF2-40B4-BE49-F238E27FC236}">
                <a16:creationId xmlns:a16="http://schemas.microsoft.com/office/drawing/2014/main" id="{A4606F7D-AF86-43BC-9154-61CC663F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3372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Immutable receipt</a:t>
            </a:r>
          </a:p>
        </p:txBody>
      </p:sp>
      <p:sp>
        <p:nvSpPr>
          <p:cNvPr id="15382" name="">
            <a:extLst xmlns:a="http://schemas.openxmlformats.org/drawingml/2006/main">
              <a:ext uri="{FF2B5EF4-FFF2-40B4-BE49-F238E27FC236}">
                <a16:creationId xmlns:a16="http://schemas.microsoft.com/office/drawing/2014/main" id="{C2141F42-FB3B-469C-A3B5-A4C6A273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1942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9CC7E6"/>
            </a:solidFill>
            <a:prstDash val="solid"/>
          </a:ln>
        </p:spPr>
      </p:sp>
      <p:sp>
        <p:nvSpPr>
          <p:cNvPr id="15383" name="">
            <a:extLst xmlns:a="http://schemas.openxmlformats.org/drawingml/2006/main">
              <a:ext uri="{FF2B5EF4-FFF2-40B4-BE49-F238E27FC236}">
                <a16:creationId xmlns:a16="http://schemas.microsoft.com/office/drawing/2014/main" id="{7120A1DC-836F-4ED5-8C1A-477E5D3F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52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384" name="">
            <a:extLst xmlns:a="http://schemas.openxmlformats.org/drawingml/2006/main">
              <a:ext uri="{FF2B5EF4-FFF2-40B4-BE49-F238E27FC236}">
                <a16:creationId xmlns:a16="http://schemas.microsoft.com/office/drawing/2014/main" id="{A911AA50-BE3C-4217-BBE1-CAC4DF99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3372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AICTE oversight</a:t>
            </a:r>
          </a:p>
        </p:txBody>
      </p:sp>
      <p:sp>
        <p:nvSpPr>
          <p:cNvPr id="15385" name="">
            <a:extLst xmlns:a="http://schemas.openxmlformats.org/drawingml/2006/main">
              <a:ext uri="{FF2B5EF4-FFF2-40B4-BE49-F238E27FC236}">
                <a16:creationId xmlns:a16="http://schemas.microsoft.com/office/drawing/2014/main" id="{D469CA71-988E-4D96-983D-D4F37C3B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86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THE DIFFERENCE</a:t>
            </a:r>
          </a:p>
        </p:txBody>
      </p:sp>
      <p:sp>
        <p:nvSpPr>
          <p:cNvPr id="15386" name="">
            <a:extLst xmlns:a="http://schemas.openxmlformats.org/drawingml/2006/main">
              <a:ext uri="{FF2B5EF4-FFF2-40B4-BE49-F238E27FC236}">
                <a16:creationId xmlns:a16="http://schemas.microsoft.com/office/drawing/2014/main" id="{2CB36FEE-58FF-4B32-9BE3-9DA3FB1E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9105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Last-seat concurrency protection  •  Every outcome has a rule code  •  Policy changes can be replayed before rollout</a:t>
            </a:r>
          </a:p>
        </p:txBody>
      </p:sp>
      <p:sp>
        <p:nvSpPr>
          <p:cNvPr id="15387" name="">
            <a:extLst xmlns:a="http://schemas.openxmlformats.org/drawingml/2006/main">
              <a:ext uri="{FF2B5EF4-FFF2-40B4-BE49-F238E27FC236}">
                <a16:creationId xmlns:a16="http://schemas.microsoft.com/office/drawing/2014/main" id="{15B4F0E3-FC8B-4CD6-8F61-AC0B2532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524500"/>
            <a:ext cx="6572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HERO FEATURE: ADMISSION POLICY DIGITAL TWIN</a:t>
            </a:r>
          </a:p>
        </p:txBody>
      </p:sp>
    </p:spTree>
    <p:extLst>
      <p:ext uri="{BB962C8B-B14F-4D97-AF65-F5344CB8AC3E}">
        <p14:creationId xmlns:p14="http://schemas.microsoft.com/office/powerpoint/2010/main" val="3484099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D952E7B6-57CF-49B1-9131-7B55ED3C27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8FAF92-80F3-4E37-98E3-907ECFD64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C7D99EA-214A-40D1-87DE-7F88762018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FFFFFF"/>
                </a:solidFill>
              </a:defRPr>
            </a:defPPr>
            <a:lvl1pPr algn="ctr">
              <a:buNone/>
              <a:defRPr sz="975">
                <a:solidFill>
                  <a:srgbClr val="FFFFFF"/>
                </a:solidFill>
              </a:defRPr>
            </a:lvl1pPr>
            <a:lvl2pPr algn="ctr">
              <a:buNone/>
              <a:defRPr sz="975">
                <a:solidFill>
                  <a:srgbClr val="FFFFFF"/>
                </a:solidFill>
              </a:defRPr>
            </a:lvl2pPr>
            <a:lvl3pPr algn="ctr">
              <a:buNone/>
              <a:defRPr sz="975">
                <a:solidFill>
                  <a:srgbClr val="FFFFFF"/>
                </a:solidFill>
              </a:defRPr>
            </a:lvl3pPr>
            <a:lvl4pPr algn="ctr">
              <a:buNone/>
              <a:defRPr sz="975">
                <a:solidFill>
                  <a:srgbClr val="FFFFFF"/>
                </a:solidFill>
              </a:defRPr>
            </a:lvl4pPr>
            <a:lvl5pPr algn="ctr">
              <a:buNone/>
              <a:defRPr sz="975">
                <a:solidFill>
                  <a:srgbClr val="FFFFFF"/>
                </a:solidFill>
              </a:defRPr>
            </a:lvl5pPr>
            <a:lvl6pPr algn="ctr">
              <a:buNone/>
              <a:defRPr sz="975">
                <a:solidFill>
                  <a:srgbClr val="FFFFFF"/>
                </a:solidFill>
              </a:defRPr>
            </a:lvl6pPr>
            <a:lvl7pPr algn="ctr">
              <a:buNone/>
              <a:defRPr sz="975">
                <a:solidFill>
                  <a:srgbClr val="FFFFFF"/>
                </a:solidFill>
              </a:defRPr>
            </a:lvl7pPr>
            <a:lvl8pPr algn="ctr">
              <a:buNone/>
              <a:defRPr sz="975">
                <a:solidFill>
                  <a:srgbClr val="FFFFFF"/>
                </a:solidFill>
              </a:defRPr>
            </a:lvl8pPr>
            <a:lvl9pPr algn="ctr">
              <a:buNone/>
              <a:defRPr sz="975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PS 26263  |  NiyamSetu  |  3/6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ASTRAL</a:t>
            </a:r>
            <a:endParaRPr/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AD98DA84-9119-427C-A54F-39C51E18B6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61b1193ea4a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E75C1BAB-8E81-4DF2-BEEC-065379F7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0001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ONE POLICY ENGINE. ONE TRANSACTION. ONE DEFENSIBLE RECORD.</a:t>
            </a:r>
          </a:p>
        </p:txBody>
      </p:sp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8C40D20B-4B9F-4F0D-B0B4-BEC0C752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1952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A7CDE7"/>
            </a:solidFill>
            <a:prstDash val="solid"/>
          </a:ln>
        </p:spPr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78E575F4-17B1-40BE-B597-CE2BB426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7 ROLES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71D511A4-0C51-419E-B835-B3AA228F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0025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42033"/>
                </a:solidFill>
                <a:latin typeface="Arial"/>
                <a:ea typeface="Arial"/>
                <a:cs typeface="Arial"/>
              </a:rPr>
              <a:t>Institution + AICTE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F665A815-0ECF-40D3-AC16-B0B23549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97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0DB4CD3A-A86B-4DA8-B9D3-50510DC9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71625"/>
            <a:ext cx="1952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A7CDE7"/>
            </a:solidFill>
            <a:prstDash val="solid"/>
          </a:ln>
        </p:spPr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239B7E49-BFDC-4356-BA85-7BA5FD1B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7145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GATEWAY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E9BA04FE-8432-4F57-85E7-12BC1E99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00025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42033"/>
                </a:solidFill>
                <a:latin typeface="Arial"/>
                <a:ea typeface="Arial"/>
                <a:cs typeface="Arial"/>
              </a:rPr>
              <a:t>OIDC/RBAC boundary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98455B22-F508-476B-AFD6-667662F7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097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3B581158-CC0B-4388-A95F-C2DBFE32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71625"/>
            <a:ext cx="1952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A7CDE7"/>
            </a:solidFill>
            <a:prstDash val="solid"/>
          </a:ln>
        </p:spPr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07CA2727-E032-4149-A1FE-A577C357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7145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3422D23C-CB35-43AF-A77C-94CBEE27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0025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42033"/>
                </a:solidFill>
                <a:latin typeface="Arial"/>
                <a:ea typeface="Arial"/>
                <a:cs typeface="Arial"/>
              </a:rPr>
              <a:t>Admission + batch + casework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5CA2AF50-7FBE-4DAD-B364-7B40DF32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097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E21D7F8D-6CD0-4EC6-AAA4-2A23B10B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71625"/>
            <a:ext cx="1952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11430">
            <a:solidFill>
              <a:srgbClr val="86D2AA"/>
            </a:solidFill>
            <a:prstDash val="solid"/>
          </a:ln>
        </p:spPr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61AA456C-A448-42F5-9039-8D2EB593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7145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35A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A1D61FFD-B510-4F8D-B330-3AC8AF82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00025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42033"/>
                </a:solidFill>
                <a:latin typeface="Arial"/>
                <a:ea typeface="Arial"/>
                <a:cs typeface="Arial"/>
              </a:rPr>
              <a:t>Serializable seat lock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C727156F-C9CC-4823-9ACC-B204D378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097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DF8E6DB5-0DB5-4A44-8A4F-07F02158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571625"/>
            <a:ext cx="1952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A7CDE7"/>
            </a:solidFill>
            <a:prstDash val="solid"/>
          </a:ln>
        </p:spPr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1CD50A4B-A4C9-46BC-A647-43076784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7145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ADAPTERS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65EE8AA3-6C0B-4A3A-87E0-070C6594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00025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42033"/>
                </a:solidFill>
                <a:latin typeface="Arial"/>
                <a:ea typeface="Arial"/>
                <a:cs typeface="Arial"/>
              </a:rPr>
              <a:t>APAAR/SSO/signing</a:t>
            </a:r>
          </a:p>
        </p:txBody>
      </p:sp>
      <p:pic>
        <p:nvPic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F8407511-C580-40E8-9E88-35D1E9F54B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7a6774bd843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857500"/>
            <a:ext cx="4953000" cy="2714625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pic>
        <p:nvPic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65B389B8-82AF-41D6-A9E4-AF1C8052DF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b1112c83644f2"/>
          <a:srcRect xmlns:a="http://schemas.openxmlformats.org/drawingml/2006/main" l="0" t="30681" r="0" b="306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857500"/>
            <a:ext cx="4953000" cy="2714625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E40F67F2-C5AA-4D12-9955-43CA85A8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3000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A"/>
          </a:solidFill>
          <a:ln xmlns:a="http://schemas.openxmlformats.org/drawingml/2006/main" w="0">
            <a:solidFill>
              <a:srgbClr val="1683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 POSTGRESQL CONCURRENCY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1037E74C-5DED-46BA-947F-91356BE3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34050"/>
            <a:ext cx="2476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B65"/>
          </a:solidFill>
          <a:ln xmlns:a="http://schemas.openxmlformats.org/drawingml/2006/main" w="0">
            <a:solidFill>
              <a:srgbClr val="143B6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RESTART PERSISTENCE</a:t>
            </a:r>
          </a:p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DC409736-717D-480C-8F3D-BBB35379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34050"/>
            <a:ext cx="2857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7-ROLE ACCESS TESTING</a:t>
            </a:r>
          </a:p>
        </p:txBody>
      </p:sp>
      <p:pic>
        <p:nvPic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3254CF9D-940F-4DF9-AD04-5AA7E8293A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caca14a1f4e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857500"/>
            <a:ext cx="4953000" cy="2714625"/>
          </a:xfrm>
          <a:prstGeom xmlns:a="http://schemas.openxmlformats.org/drawingml/2006/main" prst="rect">
            <a:avLst/>
          </a:prstGeom>
        </p:spPr>
      </p:pic>
      <p:pic>
        <p:nvPic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77A66C39-3A71-47AE-A2A1-DA1E1A2074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972f24c404175"/>
          <a:srcRect xmlns:a="http://schemas.openxmlformats.org/drawingml/2006/main" l="0" t="1282" r="0" b="1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857500"/>
            <a:ext cx="4953000" cy="2714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6092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5C2E25BA-249D-494F-8D32-401992A753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733C85-0238-40AB-AE05-479A89F465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C5EA654D-A4E2-4D61-BC8D-A6D554C8BF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FFFFFF"/>
                </a:solidFill>
              </a:defRPr>
            </a:defPPr>
            <a:lvl1pPr algn="ctr">
              <a:buNone/>
              <a:defRPr sz="975">
                <a:solidFill>
                  <a:srgbClr val="FFFFFF"/>
                </a:solidFill>
              </a:defRPr>
            </a:lvl1pPr>
            <a:lvl2pPr algn="ctr">
              <a:buNone/>
              <a:defRPr sz="975">
                <a:solidFill>
                  <a:srgbClr val="FFFFFF"/>
                </a:solidFill>
              </a:defRPr>
            </a:lvl2pPr>
            <a:lvl3pPr algn="ctr">
              <a:buNone/>
              <a:defRPr sz="975">
                <a:solidFill>
                  <a:srgbClr val="FFFFFF"/>
                </a:solidFill>
              </a:defRPr>
            </a:lvl3pPr>
            <a:lvl4pPr algn="ctr">
              <a:buNone/>
              <a:defRPr sz="975">
                <a:solidFill>
                  <a:srgbClr val="FFFFFF"/>
                </a:solidFill>
              </a:defRPr>
            </a:lvl4pPr>
            <a:lvl5pPr algn="ctr">
              <a:buNone/>
              <a:defRPr sz="975">
                <a:solidFill>
                  <a:srgbClr val="FFFFFF"/>
                </a:solidFill>
              </a:defRPr>
            </a:lvl5pPr>
            <a:lvl6pPr algn="ctr">
              <a:buNone/>
              <a:defRPr sz="975">
                <a:solidFill>
                  <a:srgbClr val="FFFFFF"/>
                </a:solidFill>
              </a:defRPr>
            </a:lvl6pPr>
            <a:lvl7pPr algn="ctr">
              <a:buNone/>
              <a:defRPr sz="975">
                <a:solidFill>
                  <a:srgbClr val="FFFFFF"/>
                </a:solidFill>
              </a:defRPr>
            </a:lvl7pPr>
            <a:lvl8pPr algn="ctr">
              <a:buNone/>
              <a:defRPr sz="975">
                <a:solidFill>
                  <a:srgbClr val="FFFFFF"/>
                </a:solidFill>
              </a:defRPr>
            </a:lvl8pPr>
            <a:lvl9pPr algn="ctr">
              <a:buNone/>
              <a:defRPr sz="975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>
                <a:solidFill>
                  <a:srgbClr val="FFFFFF"/>
                </a:solidFill>
              </a:defRPr>
            </a:pPr>
            <a:r>
              <a:rPr sz="975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TradeGothic"/>
                <a:ea typeface="TradeGothic"/>
                <a:cs typeface="TradeGothic"/>
              </a:rPr>
              <a:t>PS 26263  |  NiyamSetu  |  4/6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ASTRAL</a:t>
            </a:r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86DCFFC0-B4DB-4C12-A0A8-0F19EBB895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a635746064b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5B383079-6439-41E6-8318-F40FB881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51435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11430">
            <a:solidFill>
              <a:srgbClr val="8DD4AE"/>
            </a:solidFill>
            <a:prstDash val="solid"/>
          </a:ln>
        </p:spPr>
      </p:sp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F24AA6F0-FE51-49CF-9684-4FCC7B97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35A"/>
                </a:solidFill>
                <a:latin typeface="Arial"/>
                <a:ea typeface="Arial"/>
                <a:cs typeface="Arial"/>
              </a:rPr>
              <a:t>BUILT &amp; TESTABLE NOW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A067E30D-423C-4AA5-BBDB-E3A536CD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476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Versioned upload and correction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Student conflict checks + seat transactions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Stored grant scope + atomic withdrawal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Independent Ed25519 receipt signing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Capacity reconciliation + restart evidence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D393AAE3-23E2-4D36-8A9E-2131231E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143000"/>
            <a:ext cx="51435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11430">
            <a:solidFill>
              <a:srgbClr val="FED7AA"/>
            </a:solidFill>
            <a:prstDash val="solid"/>
          </a:ln>
        </p:spPr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61306157-6649-4363-B278-1BC63192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525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6A00"/>
                </a:solidFill>
                <a:latin typeface="Arial"/>
                <a:ea typeface="Arial"/>
                <a:cs typeface="Arial"/>
              </a:rPr>
              <a:t>NEXT VALIDATION AND INTEGRATION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79A98BC1-DAA0-4E4A-BD0D-FA8A8301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4476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Official APAAR, SSO and approval feeds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Real institution onboarding and user study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Production key custody and operational SLOs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Privacy and security review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Representative supervised pilot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118BFBE9-4BEA-4F5F-A8F2-F301B321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90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RISK → CONTROL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B1957846-561E-4F3B-9B65-DBE9B562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5143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EF"/>
            </a:solidFill>
            <a:prstDash val="solid"/>
          </a:ln>
        </p:spPr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5932290B-BADC-464C-979B-54F713FD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05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Policy ambiguity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8742773B-62D4-4DDD-ACB7-6D05A859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148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5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835069F4-E79E-4B13-90B0-45313CD0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Manual review; never invent authority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282046E9-AB4A-42C4-9687-8047FC74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91000"/>
            <a:ext cx="5143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EF"/>
            </a:solidFill>
            <a:prstDash val="solid"/>
          </a:ln>
        </p:spPr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116F5508-4BDC-4F82-A323-DD7984FB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305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Provider outage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F423DE61-B10A-42D4-A415-6D03C468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148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5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C8A64B13-AEDB-468C-8818-9B045ED5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8625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Explicit outage state + safe retry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A9BFD0D3-0C8F-4202-8ED9-FEE01B28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5143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EF"/>
            </a:solidFill>
            <a:prstDash val="solid"/>
          </a:ln>
        </p:spPr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8303AA6A-5AF4-4C3F-A64B-AEF122DC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81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Duplicate / final seat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743A7C55-91A7-4FC7-A0B7-F3221969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1911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5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63C0D2E0-EA15-47CF-A08F-42F91C51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6255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Identity conflict gate + seat transaction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F46B4C45-A531-4DA4-A924-34BE19B5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67300"/>
            <a:ext cx="5143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EF"/>
            </a:solidFill>
            <a:prstDash val="solid"/>
          </a:ln>
        </p:spPr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E6530868-B1D1-48A3-B991-4D01454B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181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Privacy leakage</a:t>
            </a:r>
          </a:p>
        </p:txBody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89AE8A86-8069-4C18-8B8E-EF6C1D6B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911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5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7D5723B8-C129-45C4-9050-8216A37B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6255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Scoped grants + withdrawal + audit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4BB63A45-BB0A-4283-9A77-6ED442E14F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050EC3-17F3-46BA-8D31-084BF1CF8D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040C636-F648-4583-8B9E-4F4716A728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FFFFFF"/>
                </a:solidFill>
              </a:defRPr>
            </a:defPPr>
            <a:lvl1pPr algn="ctr">
              <a:buNone/>
              <a:defRPr sz="975">
                <a:solidFill>
                  <a:srgbClr val="FFFFFF"/>
                </a:solidFill>
              </a:defRPr>
            </a:lvl1pPr>
            <a:lvl2pPr algn="ctr">
              <a:buNone/>
              <a:defRPr sz="975">
                <a:solidFill>
                  <a:srgbClr val="FFFFFF"/>
                </a:solidFill>
              </a:defRPr>
            </a:lvl2pPr>
            <a:lvl3pPr algn="ctr">
              <a:buNone/>
              <a:defRPr sz="975">
                <a:solidFill>
                  <a:srgbClr val="FFFFFF"/>
                </a:solidFill>
              </a:defRPr>
            </a:lvl3pPr>
            <a:lvl4pPr algn="ctr">
              <a:buNone/>
              <a:defRPr sz="975">
                <a:solidFill>
                  <a:srgbClr val="FFFFFF"/>
                </a:solidFill>
              </a:defRPr>
            </a:lvl4pPr>
            <a:lvl5pPr algn="ctr">
              <a:buNone/>
              <a:defRPr sz="975">
                <a:solidFill>
                  <a:srgbClr val="FFFFFF"/>
                </a:solidFill>
              </a:defRPr>
            </a:lvl5pPr>
            <a:lvl6pPr algn="ctr">
              <a:buNone/>
              <a:defRPr sz="975">
                <a:solidFill>
                  <a:srgbClr val="FFFFFF"/>
                </a:solidFill>
              </a:defRPr>
            </a:lvl6pPr>
            <a:lvl7pPr algn="ctr">
              <a:buNone/>
              <a:defRPr sz="975">
                <a:solidFill>
                  <a:srgbClr val="FFFFFF"/>
                </a:solidFill>
              </a:defRPr>
            </a:lvl7pPr>
            <a:lvl8pPr algn="ctr">
              <a:buNone/>
              <a:defRPr sz="975">
                <a:solidFill>
                  <a:srgbClr val="FFFFFF"/>
                </a:solidFill>
              </a:defRPr>
            </a:lvl8pPr>
            <a:lvl9pPr algn="ctr">
              <a:buNone/>
              <a:defRPr sz="975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>
                <a:solidFill>
                  <a:srgbClr val="FFFFFF"/>
                </a:solidFill>
              </a:defRPr>
            </a:pPr>
            <a:r>
              <a:rPr sz="975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TradeGothic"/>
                <a:ea typeface="TradeGothic"/>
                <a:cs typeface="TradeGothic"/>
              </a:rPr>
              <a:t>PS 26263  |  NiyamSetu  |  5/6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ASTRAL</a:t>
            </a:r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30DCE6AC-979A-4D3A-A059-E93F10CFD8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d91c9710a4c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E7575548-639C-49E9-BD04-A6520E0B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02870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SCENARIO COMPARISON + MEASURED LOCAL SAFETY</a:t>
            </a:r>
          </a:p>
        </p:txBody>
      </p:sp>
      <p:graphicFrame>
        <p:nvGraphicFramePr>
          <p:cNvPr id="17412" name="Chart">
            <a:extLst xmlns:a="http://schemas.openxmlformats.org/drawingml/2006/main">
              <a:ext uri="{FF2B5EF4-FFF2-40B4-BE49-F238E27FC236}">
                <a16:creationId xmlns:a16="http://schemas.microsoft.com/office/drawing/2014/main" id="{9621A398-9CB8-499B-8FA2-15F90771AACE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4333875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17519c8dec4fba"/>
          </a:graphicData>
        </a:graphic>
      </p:graphicFrame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A53294EE-F94B-4FDE-BE6F-699E6FC9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A"/>
          </a:solidFill>
          <a:ln xmlns:a="http://schemas.openxmlformats.org/drawingml/2006/main" w="0">
            <a:solidFill>
              <a:srgbClr val="1683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+8 scenario acceptances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E6A64082-0E29-4439-B687-74588583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 capacity rejections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32BE1537-EB89-46D6-99E9-17903EE5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4333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84 synthetic records; zero occupied seats. Baseline: 60 intake / 3 NRI / 3 TFW. Proposal: 80 / 4 / 4 under current rules. Proposed, not officially approved.</a:t>
            </a:r>
          </a:p>
        </p:txBody>
      </p:sp>
      <p:pic>
        <p:nvPic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2D81C5B1-3285-4EB6-AACA-5A7FF6B5C5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d576f9be248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1571625"/>
            <a:ext cx="600075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6A4BFB0A-FF70-4F3C-85B9-92C83199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97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DD51D301-17B0-4A7F-943F-7307AFE4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219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Explainable identity-linked record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DFC9B963-BDDE-478B-8756-AEA40B1C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2197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INSTITUTION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B3BC5B76-EB40-4BD9-B57F-F243154E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219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Row correction + defensible receipt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4F27A637-3E7F-47AA-A9B1-900816E7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6769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AICTE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EBB61F85-1F73-4A64-8EDF-414848C2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676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Intake integrity + policy foresight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A2C9B9E3-C8B6-4258-A095-83862703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6769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VERIFIER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089A0C58-1751-42AE-8FB2-7BFEAAFF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676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Purpose-limited audit trail</a:t>
            </a:r>
          </a:p>
        </p:txBody>
      </p:sp>
      <p:pic>
        <p:nvPic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E3B21CBD-8073-4164-972C-B0F945845D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45d37ea0546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1571625"/>
            <a:ext cx="60007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7CB0C6FF-D968-4A7B-8D5E-5196622862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2CD9289-7CB5-47DC-83BF-031F6AE8EA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8534C74-22FA-4343-ACE2-6B77819B73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FFFFFF"/>
                </a:solidFill>
              </a:defRPr>
            </a:defPPr>
            <a:lvl1pPr algn="ctr">
              <a:buNone/>
              <a:defRPr sz="975">
                <a:solidFill>
                  <a:srgbClr val="FFFFFF"/>
                </a:solidFill>
              </a:defRPr>
            </a:lvl1pPr>
            <a:lvl2pPr algn="ctr">
              <a:buNone/>
              <a:defRPr sz="975">
                <a:solidFill>
                  <a:srgbClr val="FFFFFF"/>
                </a:solidFill>
              </a:defRPr>
            </a:lvl2pPr>
            <a:lvl3pPr algn="ctr">
              <a:buNone/>
              <a:defRPr sz="975">
                <a:solidFill>
                  <a:srgbClr val="FFFFFF"/>
                </a:solidFill>
              </a:defRPr>
            </a:lvl3pPr>
            <a:lvl4pPr algn="ctr">
              <a:buNone/>
              <a:defRPr sz="975">
                <a:solidFill>
                  <a:srgbClr val="FFFFFF"/>
                </a:solidFill>
              </a:defRPr>
            </a:lvl4pPr>
            <a:lvl5pPr algn="ctr">
              <a:buNone/>
              <a:defRPr sz="975">
                <a:solidFill>
                  <a:srgbClr val="FFFFFF"/>
                </a:solidFill>
              </a:defRPr>
            </a:lvl5pPr>
            <a:lvl6pPr algn="ctr">
              <a:buNone/>
              <a:defRPr sz="975">
                <a:solidFill>
                  <a:srgbClr val="FFFFFF"/>
                </a:solidFill>
              </a:defRPr>
            </a:lvl6pPr>
            <a:lvl7pPr algn="ctr">
              <a:buNone/>
              <a:defRPr sz="975">
                <a:solidFill>
                  <a:srgbClr val="FFFFFF"/>
                </a:solidFill>
              </a:defRPr>
            </a:lvl7pPr>
            <a:lvl8pPr algn="ctr">
              <a:buNone/>
              <a:defRPr sz="975">
                <a:solidFill>
                  <a:srgbClr val="FFFFFF"/>
                </a:solidFill>
              </a:defRPr>
            </a:lvl8pPr>
            <a:lvl9pPr algn="ctr">
              <a:buNone/>
              <a:defRPr sz="975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>
                <a:solidFill>
                  <a:srgbClr val="FFFFFF"/>
                </a:solidFill>
              </a:defRPr>
            </a:pPr>
            <a:r>
              <a:rPr sz="975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TradeGothic"/>
                <a:ea typeface="TradeGothic"/>
                <a:cs typeface="TradeGothic"/>
              </a:rPr>
              <a:t>PS 26263  |  NiyamSetu  |  6/6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ASTRAL</a:t>
            </a:r>
            <a:endParaRPr/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C3F8239F-C3D4-457A-8AB1-F8778DF9C6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683ef91c544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7C74AEFC-BFB2-4FE3-93B5-12CE4C25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668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AUTHORITATIVE RULES + EXECUTABLE PROOF</a:t>
            </a:r>
          </a:p>
        </p:txBody>
      </p:sp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E3F37BDB-F896-4966-915C-FAB7F002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5286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A7CDE7"/>
            </a:solidFill>
            <a:prstDash val="solid"/>
          </a:ln>
        </p:spPr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8627497A-C201-4B4C-B93B-80828E79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85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PRIMARY SOURCES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D54AA289-4BF4-4A09-BE81-9E4D7618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05050"/>
            <a:ext cx="4667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AICTE Approval Process Handbook 2024–2027</a:t>
            </a:r>
          </a:p>
          <a:p xmlns:a="http://schemas.openxmlformats.org/drawingml/2006/main">
            <a: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aicte-india.org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APAAR identity and API Setu documentation</a:t>
            </a:r>
          </a:p>
          <a:p xmlns:a="http://schemas.openxmlformats.org/drawingml/2006/main">
            <a: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apaar.education.gov.in · apisetu.gov.in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Public enrolment / PGDM workflow manuals</a:t>
            </a:r>
          </a:p>
          <a:p xmlns:a="http://schemas.openxmlformats.org/drawingml/2006/main">
            <a:pPr>
              <a:buNone/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Current operator study: not yet conducted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ECC9BB83-7AA4-4DC7-BC3B-7B6EC4E6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286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11430">
            <a:solidFill>
              <a:srgbClr val="9AD6B5"/>
            </a:solidFill>
            <a:prstDash val="solid"/>
          </a:ln>
        </p:spPr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7D0429A5-8430-4E7F-8FD6-4526964A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35A"/>
                </a:solidFill>
                <a:latin typeface="Arial"/>
                <a:ea typeface="Arial"/>
                <a:cs typeface="Arial"/>
              </a:rPr>
              <a:t>REPOSITORY EVIDENCE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CC5D1486-A9CD-40D5-8F75-AE5DC251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Sourced rules + stable explanation codes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Fresh-key duplicates and overlap review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Grant scope and withdrawal concurrency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Public-key verification after restart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Capacity ledger/counter reconciliation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Pinned PostgreSQL contention evidence</a:t>
            </a:r>
          </a:p>
          <a:p xmlns:a="http://schemas.openxmlformats.org/drawingml/2006/main">
            <a:pPr>
              <a:buNone/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Operator study prepared, not conducted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A529037E-DBF2-45B5-91D8-ADD30A97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76875"/>
            <a:ext cx="8763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B65"/>
          </a:solidFill>
          <a:ln xmlns:a="http://schemas.openxmlformats.org/drawingml/2006/main" w="0">
            <a:solidFill>
              <a:srgbClr val="143B6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github.com/dglalithchandra/apaar-admission-platform</a:t>
            </a:r>
          </a:p>
        </p:txBody>
      </p:sp>
      <p:pic>
        <p:nvPic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CCC2929B-80CB-4C1E-979B-2DD8743271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bd5f129254abf"/>
          <a:stretch xmlns:a="http://schemas.openxmlformats.org/drawingml/2006/main"/>
        </p:blipFill>
        <p:spPr>
          <a:xfrm xmlns:a="http://schemas.openxmlformats.org/drawingml/2006/main">
            <a:off x="10525125" y="5191125"/>
            <a:ext cx="1104900" cy="1104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2026-10-29T01:20:32.9040000Z</dcterms:created>
  <dcterms:modified xsi:type="dcterms:W3CDTF">2026-10-29T01:20:32.9040000Z</dcterms:modified>
</coreProperties>
</file>