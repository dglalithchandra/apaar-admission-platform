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24e01f3caf471f" /><Relationship Type="http://schemas.openxmlformats.org/officeDocument/2006/relationships/extended-properties" Target="/docProps/app.xml" Id="Rb9f99f60d4b04476" /><Relationship Type="http://schemas.openxmlformats.org/officeDocument/2006/relationships/officeDocument" Target="/ppt/presentation.xml" Id="R7b9c30c8046a4e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3a11d204d74d92"/>
  </p:sldMasterIdLst>
  <p:notesMasterIdLst>
    <p:notesMasterId xmlns:r="http://schemas.openxmlformats.org/officeDocument/2006/relationships" r:id="R60f7b18fa8c84434"/>
  </p:notesMasterIdLst>
  <p:sldIdLst>
    <p:sldId xmlns:r="http://schemas.openxmlformats.org/officeDocument/2006/relationships" id="256" r:id="R4e66c8a846c9462e"/>
    <p:sldId xmlns:r="http://schemas.openxmlformats.org/officeDocument/2006/relationships" id="257" r:id="R23a502b8b74c4120"/>
    <p:sldId xmlns:r="http://schemas.openxmlformats.org/officeDocument/2006/relationships" id="258" r:id="R196e9bc01f9e483f"/>
    <p:sldId xmlns:r="http://schemas.openxmlformats.org/officeDocument/2006/relationships" id="259" r:id="R45d729ed3f6c4fa8"/>
    <p:sldId xmlns:r="http://schemas.openxmlformats.org/officeDocument/2006/relationships" id="260" r:id="R9944d6cb53bf424a"/>
    <p:sldId xmlns:r="http://schemas.openxmlformats.org/officeDocument/2006/relationships" id="261" r:id="Rae8836a16ee043a8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1pPr>
    <a:lvl2pPr xmlns:a="http://schemas.openxmlformats.org/drawingml/2006/main" marL="4572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2pPr>
    <a:lvl3pPr xmlns:a="http://schemas.openxmlformats.org/drawingml/2006/main" marL="9144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3pPr>
    <a:lvl4pPr xmlns:a="http://schemas.openxmlformats.org/drawingml/2006/main" marL="13716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4pPr>
    <a:lvl5pPr xmlns:a="http://schemas.openxmlformats.org/drawingml/2006/main" marL="18288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5pPr>
    <a:lvl6pPr xmlns:a="http://schemas.openxmlformats.org/drawingml/2006/main" marL="22860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6pPr>
    <a:lvl7pPr xmlns:a="http://schemas.openxmlformats.org/drawingml/2006/main" marL="27432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7pPr>
    <a:lvl8pPr xmlns:a="http://schemas.openxmlformats.org/drawingml/2006/main" marL="32004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8pPr>
    <a:lvl9pPr xmlns:a="http://schemas.openxmlformats.org/drawingml/2006/main" marL="36576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c1cea3ebf14d9c" /><Relationship Type="http://schemas.openxmlformats.org/officeDocument/2006/relationships/slideMaster" Target="/ppt/slideMasters/slideMaster1.xml" Id="R6e3a11d204d74d92" /><Relationship Type="http://schemas.openxmlformats.org/officeDocument/2006/relationships/notesMaster" Target="/ppt/notesMasters/notesMaster1.xml" Id="R60f7b18fa8c84434" /><Relationship Type="http://schemas.openxmlformats.org/officeDocument/2006/relationships/presProps" Target="/ppt/presProps.xml" Id="Rf99a316df00c4e73" /><Relationship Type="http://schemas.openxmlformats.org/officeDocument/2006/relationships/viewProps" Target="/ppt/viewProps.xml" Id="Ree8d94a2c1f34e64" /><Relationship Type="http://schemas.openxmlformats.org/officeDocument/2006/relationships/tableStyles" Target="/ppt/tableStyles.xml" Id="Ra299504f89ca4880" /><Relationship Type="http://schemas.openxmlformats.org/officeDocument/2006/relationships/slide" Target="/ppt/slides/slide1.xml" Id="R4e66c8a846c9462e" /><Relationship Type="http://schemas.openxmlformats.org/officeDocument/2006/relationships/slide" Target="/ppt/slides/slide2.xml" Id="R23a502b8b74c4120" /><Relationship Type="http://schemas.openxmlformats.org/officeDocument/2006/relationships/slide" Target="/ppt/slides/slide3.xml" Id="R196e9bc01f9e483f" /><Relationship Type="http://schemas.openxmlformats.org/officeDocument/2006/relationships/slide" Target="/ppt/slides/slide4.xml" Id="R45d729ed3f6c4fa8" /><Relationship Type="http://schemas.openxmlformats.org/officeDocument/2006/relationships/slide" Target="/ppt/slides/slide5.xml" Id="R9944d6cb53bf424a" /><Relationship Type="http://schemas.openxmlformats.org/officeDocument/2006/relationships/slide" Target="/ppt/slides/slide6.xml" Id="Rae8836a16ee043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ec8f03de9347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550546278446b4" /><Relationship Type="http://schemas.openxmlformats.org/officeDocument/2006/relationships/notesMaster" Target="/ppt/notesMasters/notesMaster1.xml" Id="R292ecd07c70c46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2d852dad9a4e31" /><Relationship Type="http://schemas.openxmlformats.org/officeDocument/2006/relationships/notesMaster" Target="/ppt/notesMasters/notesMaster1.xml" Id="R19255f9d7d484f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b99ec21b634977" /><Relationship Type="http://schemas.openxmlformats.org/officeDocument/2006/relationships/notesMaster" Target="/ppt/notesMasters/notesMaster1.xml" Id="R674ba6d931334c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1e1efb75394cbb" /><Relationship Type="http://schemas.openxmlformats.org/officeDocument/2006/relationships/notesMaster" Target="/ppt/notesMasters/notesMaster1.xml" Id="R8655d0042fa347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e266b5f1a14f99" /><Relationship Type="http://schemas.openxmlformats.org/officeDocument/2006/relationships/notesMaster" Target="/ppt/notesMasters/notesMaster1.xml" Id="R016a2bf7c7614c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152b61ceff466a" /><Relationship Type="http://schemas.openxmlformats.org/officeDocument/2006/relationships/notesMaster" Target="/ppt/notesMasters/notesMaster1.xml" Id="Rdb944167c38f49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4e11fb6ee44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2b5b06d1f4f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508334538d40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61af7525e4d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1075fcb3f49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b4aefc1c7464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792b17a0a4d5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01ca4beb9496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0c91117d1420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145402798d49f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5769d9948436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123327-D056-414B-904D-404525113A1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C331F95-81B0-46E7-B62A-E0A345CFFC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1A67EE-CA96-4F22-89C4-2CC4486E49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B24AA9-4094-4AB4-904A-B42C35585C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4603A8-572F-47A3-8670-44B6C5B47D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F9FB42-6850-455C-A80A-E3D948AA2D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A4D2BF1-E981-4417-8E12-2855B2C7E0F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EC25E1-2A05-4A2F-A1DC-ED4FF1503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591060-AE48-4A70-8624-FBD1A82A87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5E7FB3-F188-4AD9-80B6-11BEC22697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8B4FB6-F777-489D-9CDF-518C2DD931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F523B3-31E1-4C1F-B420-AB769A54EC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9983D8-A9CD-4B69-ADF5-F3272ACFB6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A6DFA0-E13C-4F32-909A-38084CC4B9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AC7404-60D0-4C0F-B4B6-F3837119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25145E-9FA5-4F7A-83DE-59909471D6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9F35D3F-AD05-4ACA-B26F-D0C70F8C3D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8D3F6AF-7FA3-43FF-8FFF-5BDE0E68937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8874A3-B17B-45C0-B47E-02D89E2CAB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69B843-17F1-4526-B716-2027D8D92E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FC961A-452E-4086-8CA4-574FE1CBFD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5FB1F0-7EF5-414B-9B8D-34E8827337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E79C2E-30D5-4627-BE00-5B3447862A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75307-CD63-4C34-980B-8E43E1ACAEC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140B3CB-27E6-41E5-84A1-8B3DDAE26DE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CB6782D-19E9-4684-903F-B96334957A7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94B5FA-3FF0-4437-BC3E-B5C81846BA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940AF0-0C54-469A-A669-66F4C918D8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FBDD70-7538-4B19-BC0C-EC2FBBE431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B7631A-DC12-41AB-857A-4499B1313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25ABF9-B4DA-4F99-91E4-81AF6744E9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4E465F-D90F-465F-8D40-0170CEC452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2A1D66-33DF-4635-BF89-D783EAE0B4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CF4C1B-3D24-4FE0-A945-8057FA8656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4B49BB-57ED-4246-A0E8-8364F136B4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E95DD3-ED1B-4DE1-9B60-B0D2EA87FD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19195A-FE94-44F6-AE9B-208A0BAB58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DD0169-B6AD-4BCA-A7FD-B15E390D5F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51B77F4-0688-421A-AED0-6FC8777084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C9A182-AA92-4624-9F72-754328B53D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93901D-BE5C-4D47-89A2-9C0CB2C56D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AEE827-5E23-48CC-BA68-47BBC59DF5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EC0981-ED61-4638-BFD9-EFAA024447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87F08EF-075D-45E2-9B43-1E848FEB043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F8339EE-AF6B-495B-891C-5CE3061A5A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2D5B3E-6ACB-4B9E-A940-8985293FF6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92429D-418C-4375-9E7F-EC4A447528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AD7997-7C81-427A-92D0-D5EB7911F8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7D2EDB-0D1A-4238-846B-02431ABDA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419AC7-1E14-486F-81BA-5F287F267B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344B8D-6DB4-4DE4-B57F-41D311BD1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614EBB2-BCBD-4380-B52F-B89FB3C492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3AA0E0-AB85-4AA7-ADFC-2AE53961FC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949DADA-0D17-4013-AE2F-141D89ADFF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DE8119-D6D4-444B-8DFC-2F22759F8D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49D815-AE24-4450-AEDC-E754A69D0A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4B2774-6536-49C6-BF59-7080C70127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C0F77C-A846-4BB4-9184-3F9BB5D02C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34c6e75f6840ef" /><Relationship Type="http://schemas.openxmlformats.org/officeDocument/2006/relationships/slideLayout" Target="/ppt/slideLayouts/slideLayout1.xml" Id="R4bc69cd9bb094eb6" /><Relationship Type="http://schemas.openxmlformats.org/officeDocument/2006/relationships/slideLayout" Target="/ppt/slideLayouts/slideLayout2.xml" Id="R01cd90ef28d84363" /><Relationship Type="http://schemas.openxmlformats.org/officeDocument/2006/relationships/slideLayout" Target="/ppt/slideLayouts/slideLayout3.xml" Id="R0f044841fd624017" /><Relationship Type="http://schemas.openxmlformats.org/officeDocument/2006/relationships/slideLayout" Target="/ppt/slideLayouts/slideLayout4.xml" Id="R13cd77ff4139441d" /><Relationship Type="http://schemas.openxmlformats.org/officeDocument/2006/relationships/slideLayout" Target="/ppt/slideLayouts/slideLayout5.xml" Id="R2bf596d542ec4b52" /><Relationship Type="http://schemas.openxmlformats.org/officeDocument/2006/relationships/slideLayout" Target="/ppt/slideLayouts/slideLayout6.xml" Id="R13db75d75ca94f57" /><Relationship Type="http://schemas.openxmlformats.org/officeDocument/2006/relationships/slideLayout" Target="/ppt/slideLayouts/slideLayout7.xml" Id="R0af87c2d058c4c52" /><Relationship Type="http://schemas.openxmlformats.org/officeDocument/2006/relationships/slideLayout" Target="/ppt/slideLayouts/slideLayout8.xml" Id="Ree1d336faf6f4d87" /><Relationship Type="http://schemas.openxmlformats.org/officeDocument/2006/relationships/slideLayout" Target="/ppt/slideLayouts/slideLayout9.xml" Id="R99fc023cbac54970" /><Relationship Type="http://schemas.openxmlformats.org/officeDocument/2006/relationships/slideLayout" Target="/ppt/slideLayouts/slideLayout10.xml" Id="Rbb81854e9d744cea" /><Relationship Type="http://schemas.openxmlformats.org/officeDocument/2006/relationships/slideLayout" Target="/ppt/slideLayouts/slideLayout11.xml" Id="R9a313a128400408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02D02DC-F313-405E-9A0F-2DCA6F7B9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5EF71A-6934-4CBE-BFFB-C196C79EDB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4C823B-D1EE-4F2D-9301-B1CE71238AF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C5E0D8-8CE7-4CE5-91BA-D33D7AF84FD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248899-F49E-4675-8AB1-D80A30C64E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c69cd9bb094eb6"/>
    <p:sldLayoutId xmlns:r="http://schemas.openxmlformats.org/officeDocument/2006/relationships" id="2147483650" r:id="R01cd90ef28d84363"/>
    <p:sldLayoutId xmlns:r="http://schemas.openxmlformats.org/officeDocument/2006/relationships" id="2147483651" r:id="R0f044841fd624017"/>
    <p:sldLayoutId xmlns:r="http://schemas.openxmlformats.org/officeDocument/2006/relationships" id="2147483652" r:id="R13cd77ff4139441d"/>
    <p:sldLayoutId xmlns:r="http://schemas.openxmlformats.org/officeDocument/2006/relationships" id="2147483653" r:id="R2bf596d542ec4b52"/>
    <p:sldLayoutId xmlns:r="http://schemas.openxmlformats.org/officeDocument/2006/relationships" id="2147483654" r:id="R13db75d75ca94f57"/>
    <p:sldLayoutId xmlns:r="http://schemas.openxmlformats.org/officeDocument/2006/relationships" id="2147483655" r:id="R0af87c2d058c4c52"/>
    <p:sldLayoutId xmlns:r="http://schemas.openxmlformats.org/officeDocument/2006/relationships" id="2147483656" r:id="Ree1d336faf6f4d87"/>
    <p:sldLayoutId xmlns:r="http://schemas.openxmlformats.org/officeDocument/2006/relationships" id="2147483657" r:id="R99fc023cbac54970"/>
    <p:sldLayoutId xmlns:r="http://schemas.openxmlformats.org/officeDocument/2006/relationships" id="2147483658" r:id="Rbb81854e9d744cea"/>
    <p:sldLayoutId xmlns:r="http://schemas.openxmlformats.org/officeDocument/2006/relationships" id="2147483659" r:id="R9a313a128400408c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4a79a32ac45b2" /><Relationship Type="http://schemas.openxmlformats.org/officeDocument/2006/relationships/image" Target="/ppt/media/image.png" Id="R00d05848a14d4169" /><Relationship Type="http://schemas.openxmlformats.org/officeDocument/2006/relationships/image" Target="/ppt/media/image2.png" Id="R41784c7e4ce04fed" /><Relationship Type="http://schemas.openxmlformats.org/officeDocument/2006/relationships/image" Target="/ppt/media/image.jpeg" Id="R68b11c3eee874d15" /><Relationship Type="http://schemas.openxmlformats.org/officeDocument/2006/relationships/notesSlide" Target="/ppt/notesSlides/notesSlide1.xml" Id="R61c2499cb76f4a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fd7e4e223244e3" /><Relationship Type="http://schemas.openxmlformats.org/officeDocument/2006/relationships/image" Target="/ppt/media/image2.png" Id="Re8145512bd404e47" /><Relationship Type="http://schemas.openxmlformats.org/officeDocument/2006/relationships/notesSlide" Target="/ppt/notesSlides/notesSlide2.xml" Id="R76adf00ef5274c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5f8114f4c84bcd" /><Relationship Type="http://schemas.openxmlformats.org/officeDocument/2006/relationships/image" Target="/ppt/media/image2.png" Id="R1d5f69c2c8864bc8" /><Relationship Type="http://schemas.openxmlformats.org/officeDocument/2006/relationships/image" Target="/ppt/media/image2.jpeg" Id="Rc322a1416bdf4e15" /><Relationship Type="http://schemas.openxmlformats.org/officeDocument/2006/relationships/image" Target="/ppt/media/image3.jpeg" Id="R165d4e7130d44241" /><Relationship Type="http://schemas.openxmlformats.org/officeDocument/2006/relationships/notesSlide" Target="/ppt/notesSlides/notesSlide3.xml" Id="R51cde3394d264c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e6a49ec1b84e7e" /><Relationship Type="http://schemas.openxmlformats.org/officeDocument/2006/relationships/image" Target="/ppt/media/image2.png" Id="R0076edcdbf134e9c" /><Relationship Type="http://schemas.openxmlformats.org/officeDocument/2006/relationships/notesSlide" Target="/ppt/notesSlides/notesSlide4.xml" Id="R3700739b70b648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b809e644294254" /><Relationship Type="http://schemas.openxmlformats.org/officeDocument/2006/relationships/image" Target="/ppt/media/image2.png" Id="R7a794c4edbc74bc6" /><Relationship Type="http://schemas.openxmlformats.org/officeDocument/2006/relationships/chart" Target="/ppt/slides/charts/chart1.xml" Id="R5803bd9c73f44277" /><Relationship Type="http://schemas.openxmlformats.org/officeDocument/2006/relationships/image" Target="/ppt/media/image4.jpeg" Id="R03cf077c74544c40" /><Relationship Type="http://schemas.openxmlformats.org/officeDocument/2006/relationships/notesSlide" Target="/ppt/notesSlides/notesSlide5.xml" Id="R4ee7bcb96fa448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c289578dc74947" /><Relationship Type="http://schemas.openxmlformats.org/officeDocument/2006/relationships/image" Target="/ppt/media/image2.png" Id="R5528509bb3f340b4" /><Relationship Type="http://schemas.openxmlformats.org/officeDocument/2006/relationships/notesSlide" Target="/ppt/notesSlides/notesSlide6.xml" Id="R1b43dce250464dd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Digital Twin counterfactual</a:t>
            </a:r>
          </a:p>
        </c:rich>
      </c:tx>
      <c:overlay val="0"/>
    </c:title>
    <c:plotArea>
      <c:barChart>
        <c:barDir val="col"/>
        <c:varyColors val="0"/>
        <c:ser>
          <c:idx val="0"/>
          <c:order val="0"/>
          <c:tx>
            <c:v>Policy-valid admissions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Lit>
              <c:ptCount val="2"/>
              <c:pt idx="0">
                <c:v>Approved baseline</c:v>
              </c:pt>
              <c:pt idx="1">
                <c:v>Proposed scenario</c:v>
              </c:pt>
            </c:strLit>
          </c:cat>
          <c:val>
            <c:numLit>
              <c:formatCode>General</c:formatCode>
              <c:ptCount val="2"/>
              <c:pt idx="0">
                <c:v>68</c:v>
              </c:pt>
              <c:pt idx="1">
                <c:v>77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4E3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Synthetic 84-record cohort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D4EAD705-B9F0-43F7-AF31-C03D264357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d05848a14d4169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92C605A0-AF3F-422C-85D1-BF78FB71ED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2550" b="1">
                <a:solidFill>
                  <a:srgbClr val="143B65"/>
                </a:solidFill>
              </a:defRPr>
            </a:defPPr>
            <a:lvl1pPr algn="ctr">
              <a:defRPr sz="2550" b="1">
                <a:solidFill>
                  <a:srgbClr val="143B65"/>
                </a:solidFill>
              </a:defRPr>
            </a:lvl1pPr>
            <a:lvl2pPr algn="ctr">
              <a:defRPr sz="2550" b="1">
                <a:solidFill>
                  <a:srgbClr val="143B65"/>
                </a:solidFill>
              </a:defRPr>
            </a:lvl2pPr>
            <a:lvl3pPr algn="ctr">
              <a:defRPr sz="2550" b="1">
                <a:solidFill>
                  <a:srgbClr val="143B65"/>
                </a:solidFill>
              </a:defRPr>
            </a:lvl3pPr>
            <a:lvl4pPr algn="ctr">
              <a:defRPr sz="2550" b="1">
                <a:solidFill>
                  <a:srgbClr val="143B65"/>
                </a:solidFill>
              </a:defRPr>
            </a:lvl4pPr>
            <a:lvl5pPr algn="ctr">
              <a:defRPr sz="2550" b="1">
                <a:solidFill>
                  <a:srgbClr val="143B65"/>
                </a:solidFill>
              </a:defRPr>
            </a:lvl5pPr>
            <a:lvl6pPr algn="ctr">
              <a:defRPr sz="2550" b="1">
                <a:solidFill>
                  <a:srgbClr val="143B65"/>
                </a:solidFill>
              </a:defRPr>
            </a:lvl6pPr>
            <a:lvl7pPr algn="ctr">
              <a:defRPr sz="2550" b="1">
                <a:solidFill>
                  <a:srgbClr val="143B65"/>
                </a:solidFill>
              </a:defRPr>
            </a:lvl7pPr>
            <a:lvl8pPr algn="ctr">
              <a:defRPr sz="2550" b="1">
                <a:solidFill>
                  <a:srgbClr val="143B65"/>
                </a:solidFill>
              </a:defRPr>
            </a:lvl8pPr>
            <a:lvl9pPr algn="ctr">
              <a:defRPr sz="2550" b="1">
                <a:solidFill>
                  <a:srgbClr val="143B65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43B65"/>
                </a:solidFill>
              </a:defRPr>
            </a:pPr>
            <a:r>
              <a:rPr sz="2550" b="1">
                <a:solidFill>
                  <a:srgbClr val="143B65"/>
                </a:solidFill>
              </a:rPr>
              <a:t>ADMISSION REGISTRY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B5F0C3A3-736B-496D-8D61-FC277690862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3750" b="1">
                <a:solidFill>
                  <a:srgbClr val="143B65"/>
                </a:solidFill>
              </a:defRPr>
            </a:defPPr>
            <a:lvl1pPr algn="ctr">
              <a:defRPr sz="3750" b="1">
                <a:solidFill>
                  <a:srgbClr val="143B65"/>
                </a:solidFill>
              </a:defRPr>
            </a:lvl1pPr>
            <a:lvl2pPr algn="ctr">
              <a:defRPr sz="3750" b="1">
                <a:solidFill>
                  <a:srgbClr val="143B65"/>
                </a:solidFill>
              </a:defRPr>
            </a:lvl2pPr>
            <a:lvl3pPr algn="ctr">
              <a:defRPr sz="3750" b="1">
                <a:solidFill>
                  <a:srgbClr val="143B65"/>
                </a:solidFill>
              </a:defRPr>
            </a:lvl3pPr>
            <a:lvl4pPr algn="ctr">
              <a:defRPr sz="3750" b="1">
                <a:solidFill>
                  <a:srgbClr val="143B65"/>
                </a:solidFill>
              </a:defRPr>
            </a:lvl4pPr>
            <a:lvl5pPr algn="ctr">
              <a:defRPr sz="3750" b="1">
                <a:solidFill>
                  <a:srgbClr val="143B65"/>
                </a:solidFill>
              </a:defRPr>
            </a:lvl5pPr>
            <a:lvl6pPr algn="ctr">
              <a:defRPr sz="3750" b="1">
                <a:solidFill>
                  <a:srgbClr val="143B65"/>
                </a:solidFill>
              </a:defRPr>
            </a:lvl6pPr>
            <a:lvl7pPr algn="ctr">
              <a:defRPr sz="3750" b="1">
                <a:solidFill>
                  <a:srgbClr val="143B65"/>
                </a:solidFill>
              </a:defRPr>
            </a:lvl7pPr>
            <a:lvl8pPr algn="ctr">
              <a:defRPr sz="3750" b="1">
                <a:solidFill>
                  <a:srgbClr val="143B65"/>
                </a:solidFill>
              </a:defRPr>
            </a:lvl8pPr>
            <a:lvl9pPr algn="ctr">
              <a:defRPr sz="3750" b="1">
                <a:solidFill>
                  <a:srgbClr val="143B65"/>
                </a:solidFill>
              </a:defRPr>
            </a:lvl9pPr>
          </a:lstStyle>
          <a:p xmlns:a="http://schemas.openxmlformats.org/drawingml/2006/main">
            <a:pPr algn="ctr">
              <a:defRPr sz="3750" b="1">
                <a:solidFill>
                  <a:srgbClr val="143B65"/>
                </a:solidFill>
              </a:defRPr>
            </a:pPr>
            <a:r>
              <a:rPr sz="3750" b="1">
                <a:solidFill>
                  <a:srgbClr val="143B65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F0A3ED4-1294-4187-B619-30FD3234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6" y="2076450"/>
            <a:ext cx="5924550" cy="5554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Problem Statement ID  26263</a:t>
            </a:r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85750" indent="-285750" algn="l">
              <a:lnSpc>
                <a:spcPct val="200000"/>
              </a:lnSpc>
              <a:buFont typeface="Arial"/>
              <a:buChar char="•"/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APAAR ID-Based Student Data Management &amp; Verification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85750" indent="-285750" algn="l">
              <a:lnSpc>
                <a:spcPct val="200000"/>
              </a:lnSpc>
              <a:buFont typeface="Arial"/>
              <a:buChar char="•"/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Theme  Smart Automation</a:t>
            </a:r>
          </a:p>
          <a:p xmlns:a="http://schemas.openxmlformats.org/drawingml/2006/main">
            <a:pPr marL="285750" indent="-285750" algn="l">
              <a:lnSpc>
                <a:spcPct val="200000"/>
              </a:lnSpc>
              <a:buFont typeface="Arial"/>
              <a:buChar char="•"/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Category  Software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/>
            </a:r>
            <a:endParaRPr sz="2400"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l">
              <a:lnSpc>
                <a:spcPct val="200000"/>
              </a:lnSpc>
              <a:buFont typeface="Arial"/>
              <a:buChar char="•"/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Team ID  [TEAM ID]</a:t>
            </a:r>
            <a:endParaRPr sz="2400" b="1"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l">
              <a:lnSpc>
                <a:spcPct val="200000"/>
              </a:lnSpc>
              <a:buFont typeface="Arial"/>
              <a:buChar char="•"/>
              <a:defRPr sz="1650" b="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033"/>
                </a:solidFill>
                <a:latin typeface="Arial"/>
                <a:ea typeface="Arial"/>
                <a:cs typeface="Arial"/>
              </a:rPr>
              <a:t>Team Name  [TEAM NAME]</a:t>
            </a:r>
            <a:endParaRPr sz="2400" b="1">
              <a:latin typeface="Arial"/>
              <a:ea typeface="Arial"/>
              <a:cs typeface="Arial"/>
            </a:endParaRPr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61F5EE58-D29D-4C4C-993F-5AD898933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84c7e4ce04f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88BFF1-46BB-4B50-959A-FDA8815D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3714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WORKING, TESTED, AUTHORITY-READY</a:t>
            </a:r>
          </a:p>
        </p:txBody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F45C75-6618-485C-A0CB-8FC14D2B85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11c3eee874d15"/>
          <a:srcRect xmlns:a="http://schemas.openxmlformats.org/drawingml/2006/main" l="0" t="26729" r="0" b="267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952625"/>
            <a:ext cx="4905375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E09A4E-B6A5-4622-8638-C1E34D95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34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Protect every legitimate seat before admission becomes an audit problem.</a:t>
            </a:r>
          </a:p>
        </p:txBody>
      </p:sp>
    </p:spTree>
    <p:extLst>
      <p:ext uri="{BB962C8B-B14F-4D97-AF65-F5344CB8AC3E}">
        <p14:creationId xmlns:p14="http://schemas.microsoft.com/office/powerpoint/2010/main" val="15198810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F505ECD-35BE-40FD-9C73-D58BF432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CCA1E7B8-E9BE-403F-8D1B-DDBF74E552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/>
            </a:r>
            <a:br>
              <a:rPr sz="3600" b="1">
                <a:latin typeface="Times New Roman"/>
                <a:ea typeface="Times New Roman"/>
                <a:cs typeface="Times New Roman"/>
              </a:rPr>
            </a:br>
            <a:r>
              <a:rPr sz="3600" b="1">
                <a:latin typeface="Times New Roman"/>
                <a:ea typeface="Times New Roman"/>
                <a:cs typeface="Times New Roman"/>
              </a:rPr>
              <a:t>IDEA TITLE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07585894-9525-41DE-B9A2-90B4C7ED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3200" b="1" u="sng">
                <a:solidFill>
                  <a:schemeClr val="tx2"/>
                </a:solidFill>
                <a:latin typeface="Arial"/>
                <a:ea typeface="Arial"/>
                <a:cs typeface="Arial"/>
              </a:rPr>
              <a:t/>
            </a:r>
            <a:endParaRPr sz="32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7A5859-D2D1-4699-A715-8442C839B5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F70B2CA-3EDA-49F3-B541-34EA4ABA75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defRPr sz="975">
                <a:solidFill>
                  <a:srgbClr val="FFFFFF"/>
                </a:solidFill>
              </a:defRPr>
            </a:lvl1pPr>
            <a:lvl2pPr algn="ctr">
              <a:defRPr sz="975">
                <a:solidFill>
                  <a:srgbClr val="FFFFFF"/>
                </a:solidFill>
              </a:defRPr>
            </a:lvl2pPr>
            <a:lvl3pPr algn="ctr">
              <a:defRPr sz="975">
                <a:solidFill>
                  <a:srgbClr val="FFFFFF"/>
                </a:solidFill>
              </a:defRPr>
            </a:lvl3pPr>
            <a:lvl4pPr algn="ctr">
              <a:defRPr sz="975">
                <a:solidFill>
                  <a:srgbClr val="FFFFFF"/>
                </a:solidFill>
              </a:defRPr>
            </a:lvl4pPr>
            <a:lvl5pPr algn="ctr">
              <a:defRPr sz="975">
                <a:solidFill>
                  <a:srgbClr val="FFFFFF"/>
                </a:solidFill>
              </a:defRPr>
            </a:lvl5pPr>
            <a:lvl6pPr algn="ctr">
              <a:defRPr sz="975">
                <a:solidFill>
                  <a:srgbClr val="FFFFFF"/>
                </a:solidFill>
              </a:defRPr>
            </a:lvl6pPr>
            <a:lvl7pPr algn="ctr">
              <a:defRPr sz="975">
                <a:solidFill>
                  <a:srgbClr val="FFFFFF"/>
                </a:solidFill>
              </a:defRPr>
            </a:lvl7pPr>
            <a:lvl8pPr algn="ctr">
              <a:defRPr sz="975">
                <a:solidFill>
                  <a:srgbClr val="FFFFFF"/>
                </a:solidFill>
              </a:defRPr>
            </a:lvl8pPr>
            <a:lvl9pPr algn="ctr"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PS 26263  |  Admission Registry  |  2/6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43B65"/>
                </a:solidFill>
              </a:defRPr>
            </a:defPPr>
            <a:lvl1pPr algn="ctr">
              <a:defRPr sz="1200" b="1">
                <a:solidFill>
                  <a:srgbClr val="143B65"/>
                </a:solidFill>
              </a:defRPr>
            </a:lvl1pPr>
            <a:lvl2pPr algn="ctr">
              <a:defRPr sz="1200" b="1">
                <a:solidFill>
                  <a:srgbClr val="143B65"/>
                </a:solidFill>
              </a:defRPr>
            </a:lvl2pPr>
            <a:lvl3pPr algn="ctr">
              <a:defRPr sz="1200" b="1">
                <a:solidFill>
                  <a:srgbClr val="143B65"/>
                </a:solidFill>
              </a:defRPr>
            </a:lvl3pPr>
            <a:lvl4pPr algn="ctr">
              <a:defRPr sz="1200" b="1">
                <a:solidFill>
                  <a:srgbClr val="143B65"/>
                </a:solidFill>
              </a:defRPr>
            </a:lvl4pPr>
            <a:lvl5pPr algn="ctr">
              <a:defRPr sz="1200" b="1">
                <a:solidFill>
                  <a:srgbClr val="143B65"/>
                </a:solidFill>
              </a:defRPr>
            </a:lvl5pPr>
            <a:lvl6pPr algn="ctr">
              <a:defRPr sz="1200" b="1">
                <a:solidFill>
                  <a:srgbClr val="143B65"/>
                </a:solidFill>
              </a:defRPr>
            </a:lvl6pPr>
            <a:lvl7pPr algn="ctr">
              <a:defRPr sz="1200" b="1">
                <a:solidFill>
                  <a:srgbClr val="143B65"/>
                </a:solidFill>
              </a:defRPr>
            </a:lvl7pPr>
            <a:lvl8pPr algn="ctr">
              <a:defRPr sz="1200" b="1">
                <a:solidFill>
                  <a:srgbClr val="143B65"/>
                </a:solidFill>
              </a:defRPr>
            </a:lvl8pPr>
            <a:lvl9pPr algn="ctr">
              <a:defRPr sz="1200" b="1">
                <a:solidFill>
                  <a:srgbClr val="143B65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43B65"/>
                </a:solidFill>
              </a:defRPr>
            </a:pPr>
            <a:r>
              <a:rPr sz="1200" b="1">
                <a:solidFill>
                  <a:srgbClr val="143B65"/>
                </a:solidFill>
              </a:rPr>
              <a:t>[TEAM NAME]</a:t>
            </a:r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A80B80B4-33C5-48B2-A1D7-DC37F79862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45512bd404e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3" name="">
            <a:extLst xmlns:a="http://schemas.openxmlformats.org/drawingml/2006/main">
              <a:ext uri="{FF2B5EF4-FFF2-40B4-BE49-F238E27FC236}">
                <a16:creationId xmlns:a16="http://schemas.microsoft.com/office/drawing/2014/main" id="{4F7A119F-C751-467A-A477-E1788C8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430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FROM ANNUAL TOTALS TO A VERIFIABLE ADMISSION LEDGER</a:t>
            </a:r>
          </a:p>
        </p:txBody>
      </p:sp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60D34A81-C93C-4B14-84E4-CB83CF5C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143250" cy="3095625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11430">
            <a:solidFill>
              <a:srgbClr val="FED7AA"/>
            </a:solidFill>
            <a:prstDash val="solid"/>
          </a:ln>
        </p:spPr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2A403410-E7B1-490F-958A-9FCEC77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6A00"/>
                </a:solidFill>
                <a:latin typeface="Arial"/>
                <a:ea typeface="Arial"/>
                <a:cs typeface="Arial"/>
              </a:rPr>
              <a:t>TODAY'S FAILURE CHAIN</a:t>
            </a:r>
          </a:p>
        </p:txBody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00226B25-D001-4467-BB3C-BE0BE369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6289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033"/>
                </a:solidFill>
                <a:latin typeface="Arial"/>
                <a:ea typeface="Arial"/>
                <a:cs typeface="Arial"/>
              </a:rPr>
              <a:t>Fragmented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033"/>
                </a:solidFill>
                <a:latin typeface="Arial"/>
                <a:ea typeface="Arial"/>
                <a:cs typeface="Arial"/>
              </a:rPr>
              <a:t>Student identity gaps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033"/>
                </a:solidFill>
                <a:latin typeface="Arial"/>
                <a:ea typeface="Arial"/>
                <a:cs typeface="Arial"/>
              </a:rPr>
              <a:t>Late intake reconciliation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033"/>
                </a:solidFill>
                <a:latin typeface="Arial"/>
                <a:ea typeface="Arial"/>
                <a:cs typeface="Arial"/>
              </a:rPr>
              <a:t>Duplicate or excess enrolment discovered after the fact</a:t>
            </a:r>
          </a:p>
        </p:txBody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109F8FF5-2425-4C1F-BCB5-83F3E883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CE4CF5CF-2710-4C77-9DF4-2F5F5AC7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90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63885F22-BCA0-40F6-AEAF-1CE50855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97167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Versioned upload</a:t>
            </a:r>
          </a:p>
        </p:txBody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B02CFBDA-6B47-4EC2-BE8D-EEC70C28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5737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C3FFF79F-1400-43DC-85F4-88E0BA18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90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372" name="">
            <a:extLst xmlns:a="http://schemas.openxmlformats.org/drawingml/2006/main">
              <a:ext uri="{FF2B5EF4-FFF2-40B4-BE49-F238E27FC236}">
                <a16:creationId xmlns:a16="http://schemas.microsoft.com/office/drawing/2014/main" id="{1C26F2A3-DA18-4306-899B-EB17E1CB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7167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APAAR adapter</a:t>
            </a:r>
          </a:p>
        </p:txBody>
      </p:sp>
      <p:sp>
        <p:nvSpPr>
          <p:cNvPr id="15373" name="">
            <a:extLst xmlns:a="http://schemas.openxmlformats.org/drawingml/2006/main">
              <a:ext uri="{FF2B5EF4-FFF2-40B4-BE49-F238E27FC236}">
                <a16:creationId xmlns:a16="http://schemas.microsoft.com/office/drawing/2014/main" id="{4263A3DA-C9FF-4C9A-8178-19BAE9F7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5737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74" name="">
            <a:extLst xmlns:a="http://schemas.openxmlformats.org/drawingml/2006/main">
              <a:ext uri="{FF2B5EF4-FFF2-40B4-BE49-F238E27FC236}">
                <a16:creationId xmlns:a16="http://schemas.microsoft.com/office/drawing/2014/main" id="{5692FCE0-BAD1-4355-BDA5-D6D548B1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90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375" name="">
            <a:extLst xmlns:a="http://schemas.openxmlformats.org/drawingml/2006/main">
              <a:ext uri="{FF2B5EF4-FFF2-40B4-BE49-F238E27FC236}">
                <a16:creationId xmlns:a16="http://schemas.microsoft.com/office/drawing/2014/main" id="{04B51A25-9F98-4F66-A46C-91409111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7167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Policy decision</a:t>
            </a:r>
          </a:p>
        </p:txBody>
      </p:sp>
      <p:sp>
        <p:nvSpPr>
          <p:cNvPr id="15376" name="">
            <a:extLst xmlns:a="http://schemas.openxmlformats.org/drawingml/2006/main">
              <a:ext uri="{FF2B5EF4-FFF2-40B4-BE49-F238E27FC236}">
                <a16:creationId xmlns:a16="http://schemas.microsoft.com/office/drawing/2014/main" id="{BEDF0F8D-25A2-48F1-A609-843A7CBB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1942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77" name="">
            <a:extLst xmlns:a="http://schemas.openxmlformats.org/drawingml/2006/main">
              <a:ext uri="{FF2B5EF4-FFF2-40B4-BE49-F238E27FC236}">
                <a16:creationId xmlns:a16="http://schemas.microsoft.com/office/drawing/2014/main" id="{37C8FF38-9CF3-4D5C-8D27-E0C90D4A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152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378" name="">
            <a:extLst xmlns:a="http://schemas.openxmlformats.org/drawingml/2006/main">
              <a:ext uri="{FF2B5EF4-FFF2-40B4-BE49-F238E27FC236}">
                <a16:creationId xmlns:a16="http://schemas.microsoft.com/office/drawing/2014/main" id="{9ABAF34F-F1F0-46B6-A79E-88616447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3372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Seat protected</a:t>
            </a:r>
          </a:p>
        </p:txBody>
      </p:sp>
      <p:sp>
        <p:nvSpPr>
          <p:cNvPr id="15379" name="">
            <a:extLst xmlns:a="http://schemas.openxmlformats.org/drawingml/2006/main">
              <a:ext uri="{FF2B5EF4-FFF2-40B4-BE49-F238E27FC236}">
                <a16:creationId xmlns:a16="http://schemas.microsoft.com/office/drawing/2014/main" id="{7F1CE375-24C9-491B-BFE4-EEFB001C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1942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80" name="">
            <a:extLst xmlns:a="http://schemas.openxmlformats.org/drawingml/2006/main">
              <a:ext uri="{FF2B5EF4-FFF2-40B4-BE49-F238E27FC236}">
                <a16:creationId xmlns:a16="http://schemas.microsoft.com/office/drawing/2014/main" id="{CCCC75EB-67BA-4D14-B449-7721F9F6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52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381" name="">
            <a:extLst xmlns:a="http://schemas.openxmlformats.org/drawingml/2006/main">
              <a:ext uri="{FF2B5EF4-FFF2-40B4-BE49-F238E27FC236}">
                <a16:creationId xmlns:a16="http://schemas.microsoft.com/office/drawing/2014/main" id="{A4606F7D-AF86-43BC-9154-61CC663F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3372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Immutable receipt</a:t>
            </a:r>
          </a:p>
        </p:txBody>
      </p:sp>
      <p:sp>
        <p:nvSpPr>
          <p:cNvPr id="15382" name="">
            <a:extLst xmlns:a="http://schemas.openxmlformats.org/drawingml/2006/main">
              <a:ext uri="{FF2B5EF4-FFF2-40B4-BE49-F238E27FC236}">
                <a16:creationId xmlns:a16="http://schemas.microsoft.com/office/drawing/2014/main" id="{C2141F42-FB3B-469C-A3B5-A4C6A273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1952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9CC7E6"/>
            </a:solidFill>
            <a:prstDash val="solid"/>
          </a:ln>
        </p:spPr>
      </p:sp>
      <p:sp>
        <p:nvSpPr>
          <p:cNvPr id="15383" name="">
            <a:extLst xmlns:a="http://schemas.openxmlformats.org/drawingml/2006/main">
              <a:ext uri="{FF2B5EF4-FFF2-40B4-BE49-F238E27FC236}">
                <a16:creationId xmlns:a16="http://schemas.microsoft.com/office/drawing/2014/main" id="{7120A1DC-836F-4ED5-8C1A-477E5D3F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52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C0"/>
          </a:solidFill>
          <a:ln xmlns:a="http://schemas.openxmlformats.org/drawingml/2006/main" w="0">
            <a:solidFill>
              <a:srgbClr val="0070C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384" name="">
            <a:extLst xmlns:a="http://schemas.openxmlformats.org/drawingml/2006/main">
              <a:ext uri="{FF2B5EF4-FFF2-40B4-BE49-F238E27FC236}">
                <a16:creationId xmlns:a16="http://schemas.microsoft.com/office/drawing/2014/main" id="{A911AA50-BE3C-4217-BBE1-CAC4DF99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33725"/>
            <a:ext cx="128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AICTE oversight</a:t>
            </a:r>
          </a:p>
        </p:txBody>
      </p:sp>
      <p:sp>
        <p:nvSpPr>
          <p:cNvPr id="15385" name="">
            <a:extLst xmlns:a="http://schemas.openxmlformats.org/drawingml/2006/main">
              <a:ext uri="{FF2B5EF4-FFF2-40B4-BE49-F238E27FC236}">
                <a16:creationId xmlns:a16="http://schemas.microsoft.com/office/drawing/2014/main" id="{D469CA71-988E-4D96-983D-D4F37C3B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THE DIFFERENCE</a:t>
            </a:r>
          </a:p>
        </p:txBody>
      </p:sp>
      <p:sp>
        <p:nvSpPr>
          <p:cNvPr id="15386" name="">
            <a:extLst xmlns:a="http://schemas.openxmlformats.org/drawingml/2006/main">
              <a:ext uri="{FF2B5EF4-FFF2-40B4-BE49-F238E27FC236}">
                <a16:creationId xmlns:a16="http://schemas.microsoft.com/office/drawing/2014/main" id="{2CB36FEE-58FF-4B32-9BE3-9DA3FB1E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9105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Last-seat concurrency protection  •  Every outcome has a rule code  •  Policy changes can be replayed before rollout</a:t>
            </a:r>
          </a:p>
        </p:txBody>
      </p:sp>
      <p:sp>
        <p:nvSpPr>
          <p:cNvPr id="15387" name="">
            <a:extLst xmlns:a="http://schemas.openxmlformats.org/drawingml/2006/main">
              <a:ext uri="{FF2B5EF4-FFF2-40B4-BE49-F238E27FC236}">
                <a16:creationId xmlns:a16="http://schemas.microsoft.com/office/drawing/2014/main" id="{15B4F0E3-FC8B-4CD6-8F61-AC0B2532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524500"/>
            <a:ext cx="6572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HERO FEATURE: ADMISSION POLICY DIGITAL TWIN</a:t>
            </a:r>
          </a:p>
        </p:txBody>
      </p:sp>
    </p:spTree>
    <p:extLst>
      <p:ext uri="{BB962C8B-B14F-4D97-AF65-F5344CB8AC3E}">
        <p14:creationId xmlns:p14="http://schemas.microsoft.com/office/powerpoint/2010/main" val="3484099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D952E7B6-57CF-49B1-9131-7B55ED3C2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B84FDFEC-DA68-4B1B-BFBC-AB58EAB9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8FAF92-80F3-4E37-98E3-907ECFD64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C7D99EA-214A-40D1-87DE-7F88762018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defRPr sz="975">
                <a:solidFill>
                  <a:srgbClr val="FFFFFF"/>
                </a:solidFill>
              </a:defRPr>
            </a:lvl1pPr>
            <a:lvl2pPr algn="ctr">
              <a:defRPr sz="975">
                <a:solidFill>
                  <a:srgbClr val="FFFFFF"/>
                </a:solidFill>
              </a:defRPr>
            </a:lvl2pPr>
            <a:lvl3pPr algn="ctr">
              <a:defRPr sz="975">
                <a:solidFill>
                  <a:srgbClr val="FFFFFF"/>
                </a:solidFill>
              </a:defRPr>
            </a:lvl3pPr>
            <a:lvl4pPr algn="ctr">
              <a:defRPr sz="975">
                <a:solidFill>
                  <a:srgbClr val="FFFFFF"/>
                </a:solidFill>
              </a:defRPr>
            </a:lvl4pPr>
            <a:lvl5pPr algn="ctr">
              <a:defRPr sz="975">
                <a:solidFill>
                  <a:srgbClr val="FFFFFF"/>
                </a:solidFill>
              </a:defRPr>
            </a:lvl5pPr>
            <a:lvl6pPr algn="ctr">
              <a:defRPr sz="975">
                <a:solidFill>
                  <a:srgbClr val="FFFFFF"/>
                </a:solidFill>
              </a:defRPr>
            </a:lvl6pPr>
            <a:lvl7pPr algn="ctr">
              <a:defRPr sz="975">
                <a:solidFill>
                  <a:srgbClr val="FFFFFF"/>
                </a:solidFill>
              </a:defRPr>
            </a:lvl7pPr>
            <a:lvl8pPr algn="ctr">
              <a:defRPr sz="975">
                <a:solidFill>
                  <a:srgbClr val="FFFFFF"/>
                </a:solidFill>
              </a:defRPr>
            </a:lvl8pPr>
            <a:lvl9pPr algn="ctr"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PS 26263  |  Admission Registry  |  3/6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43B65"/>
                </a:solidFill>
              </a:defRPr>
            </a:defPPr>
            <a:lvl1pPr algn="ctr">
              <a:defRPr sz="1200" b="1">
                <a:solidFill>
                  <a:srgbClr val="143B65"/>
                </a:solidFill>
              </a:defRPr>
            </a:lvl1pPr>
            <a:lvl2pPr algn="ctr">
              <a:defRPr sz="1200" b="1">
                <a:solidFill>
                  <a:srgbClr val="143B65"/>
                </a:solidFill>
              </a:defRPr>
            </a:lvl2pPr>
            <a:lvl3pPr algn="ctr">
              <a:defRPr sz="1200" b="1">
                <a:solidFill>
                  <a:srgbClr val="143B65"/>
                </a:solidFill>
              </a:defRPr>
            </a:lvl3pPr>
            <a:lvl4pPr algn="ctr">
              <a:defRPr sz="1200" b="1">
                <a:solidFill>
                  <a:srgbClr val="143B65"/>
                </a:solidFill>
              </a:defRPr>
            </a:lvl4pPr>
            <a:lvl5pPr algn="ctr">
              <a:defRPr sz="1200" b="1">
                <a:solidFill>
                  <a:srgbClr val="143B65"/>
                </a:solidFill>
              </a:defRPr>
            </a:lvl5pPr>
            <a:lvl6pPr algn="ctr">
              <a:defRPr sz="1200" b="1">
                <a:solidFill>
                  <a:srgbClr val="143B65"/>
                </a:solidFill>
              </a:defRPr>
            </a:lvl6pPr>
            <a:lvl7pPr algn="ctr">
              <a:defRPr sz="1200" b="1">
                <a:solidFill>
                  <a:srgbClr val="143B65"/>
                </a:solidFill>
              </a:defRPr>
            </a:lvl7pPr>
            <a:lvl8pPr algn="ctr">
              <a:defRPr sz="1200" b="1">
                <a:solidFill>
                  <a:srgbClr val="143B65"/>
                </a:solidFill>
              </a:defRPr>
            </a:lvl8pPr>
            <a:lvl9pPr algn="ctr">
              <a:defRPr sz="1200" b="1">
                <a:solidFill>
                  <a:srgbClr val="143B65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43B65"/>
                </a:solidFill>
              </a:defRPr>
            </a:pPr>
            <a:r>
              <a:rPr sz="1200" b="1">
                <a:solidFill>
                  <a:srgbClr val="143B65"/>
                </a:solidFill>
              </a:rPr>
              <a:t>[TEAM NAME]</a:t>
            </a:r>
            <a:endParaRPr/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1793F8EE-A540-4C6B-9B6B-005FC8544C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f69c2c8864b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E75C1BAB-8E81-4DF2-BEEC-065379F7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001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ONE POLICY ENGINE. ONE TRANSACTION. ONE DEFENSIBLE RECORD.</a:t>
            </a:r>
          </a:p>
        </p:txBody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8C40D20B-4B9F-4F0D-B0B4-BEC0C752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78E575F4-17B1-40BE-B597-CE2BB426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7 ROLES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71D511A4-0C51-419E-B835-B3AA228F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Institution + AICTE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F665A815-0ECF-40D3-AC16-B0B23549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0DB4CD3A-A86B-4DA8-B9D3-50510DC9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239B7E49-BFDC-4356-BA85-7BA5FD1B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GATEWAY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E9BA04FE-8432-4F57-85E7-12BC1E99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OIDC/RBAC boundary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98455B22-F508-476B-AFD6-667662F7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097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3B581158-CC0B-4388-A95F-C2DBFE32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07CA2727-E032-4149-A1FE-A577C357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3422D23C-CB35-43AF-A77C-94CBEE27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Admission + batch + casework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5CA2AF50-7FBE-4DAD-B364-7B40DF32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097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E21D7F8D-6CD0-4EC6-AAA4-2A23B10B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11430">
            <a:solidFill>
              <a:srgbClr val="86D2AA"/>
            </a:solidFill>
            <a:prstDash val="solid"/>
          </a:ln>
        </p:spPr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61AA456C-A448-42F5-9039-8D2EB593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35A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A1D61FFD-B510-4F8D-B330-3AC8AF82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Serializable seat lock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C727156F-C9CC-4823-9ACC-B204D378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DF8E6DB5-0DB5-4A44-8A4F-07F02158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571625"/>
            <a:ext cx="19526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1CD50A4B-A4C9-46BC-A647-43076784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714500"/>
            <a:ext cx="1724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ADAPTERS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65EE8AA3-6C0B-4A3A-87E0-070C6594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0002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42033"/>
                </a:solidFill>
                <a:latin typeface="Arial"/>
                <a:ea typeface="Arial"/>
                <a:cs typeface="Arial"/>
              </a:rPr>
              <a:t>APAAR/SSO/signing</a:t>
            </a:r>
          </a:p>
        </p:txBody>
      </p:sp>
      <p:pic>
        <p:nvPic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4618DAE3-3308-49AB-9940-BA24EFF635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2a1416bdf4e15"/>
          <a:srcRect xmlns:a="http://schemas.openxmlformats.org/drawingml/2006/main" l="0" t="30681" r="0" b="306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857500"/>
            <a:ext cx="4953000" cy="2714625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pic>
        <p:nvPic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C74CF415-C5F9-4DFA-ADEC-3B324430B4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d4e7130d44241"/>
          <a:srcRect xmlns:a="http://schemas.openxmlformats.org/drawingml/2006/main" l="0" t="30681" r="0" b="306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857500"/>
            <a:ext cx="4953000" cy="2714625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E40F67F2-C5AA-4D12-9955-43CA85A8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30003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A"/>
          </a:solidFill>
          <a:ln xmlns:a="http://schemas.openxmlformats.org/drawingml/2006/main" w="0">
            <a:solidFill>
              <a:srgbClr val="1683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 POSTGRESQL CONCURRENCY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1037E74C-5DED-46BA-947F-91356BE3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34050"/>
            <a:ext cx="2476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B65"/>
          </a:solidFill>
          <a:ln xmlns:a="http://schemas.openxmlformats.org/drawingml/2006/main" w="0">
            <a:solidFill>
              <a:srgbClr val="143B6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RESTART PERSISTENCE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DC409736-717D-480C-8F3D-BBB35379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34050"/>
            <a:ext cx="2857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7-ROLE ACCESS TESTING</a:t>
            </a:r>
          </a:p>
        </p:txBody>
      </p:sp>
    </p:spTree>
    <p:extLst>
      <p:ext uri="{BB962C8B-B14F-4D97-AF65-F5344CB8AC3E}">
        <p14:creationId xmlns:p14="http://schemas.microsoft.com/office/powerpoint/2010/main" val="6966092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C2E25BA-249D-494F-8D32-401992A753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F785D522-E8F6-4967-B1AC-6216B3F5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733C85-0238-40AB-AE05-479A89F465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C5EA654D-A4E2-4D61-BC8D-A6D554C8BF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defRPr sz="975">
                <a:solidFill>
                  <a:srgbClr val="FFFFFF"/>
                </a:solidFill>
              </a:defRPr>
            </a:lvl1pPr>
            <a:lvl2pPr algn="ctr">
              <a:defRPr sz="975">
                <a:solidFill>
                  <a:srgbClr val="FFFFFF"/>
                </a:solidFill>
              </a:defRPr>
            </a:lvl2pPr>
            <a:lvl3pPr algn="ctr">
              <a:defRPr sz="975">
                <a:solidFill>
                  <a:srgbClr val="FFFFFF"/>
                </a:solidFill>
              </a:defRPr>
            </a:lvl3pPr>
            <a:lvl4pPr algn="ctr">
              <a:defRPr sz="975">
                <a:solidFill>
                  <a:srgbClr val="FFFFFF"/>
                </a:solidFill>
              </a:defRPr>
            </a:lvl4pPr>
            <a:lvl5pPr algn="ctr">
              <a:defRPr sz="975">
                <a:solidFill>
                  <a:srgbClr val="FFFFFF"/>
                </a:solidFill>
              </a:defRPr>
            </a:lvl5pPr>
            <a:lvl6pPr algn="ctr">
              <a:defRPr sz="975">
                <a:solidFill>
                  <a:srgbClr val="FFFFFF"/>
                </a:solidFill>
              </a:defRPr>
            </a:lvl6pPr>
            <a:lvl7pPr algn="ctr">
              <a:defRPr sz="975">
                <a:solidFill>
                  <a:srgbClr val="FFFFFF"/>
                </a:solidFill>
              </a:defRPr>
            </a:lvl7pPr>
            <a:lvl8pPr algn="ctr">
              <a:defRPr sz="975">
                <a:solidFill>
                  <a:srgbClr val="FFFFFF"/>
                </a:solidFill>
              </a:defRPr>
            </a:lvl8pPr>
            <a:lvl9pPr algn="ctr"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>
                <a:solidFill>
                  <a:srgbClr val="FFFFFF"/>
                </a:solidFill>
              </a:defRPr>
            </a:pPr>
            <a:r>
              <a:rPr sz="975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PS 26263  |  Admission Registry  |  4/6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43B65"/>
                </a:solidFill>
              </a:defRPr>
            </a:defPPr>
            <a:lvl1pPr algn="ctr">
              <a:defRPr sz="1200" b="1">
                <a:solidFill>
                  <a:srgbClr val="143B65"/>
                </a:solidFill>
              </a:defRPr>
            </a:lvl1pPr>
            <a:lvl2pPr algn="ctr">
              <a:defRPr sz="1200" b="1">
                <a:solidFill>
                  <a:srgbClr val="143B65"/>
                </a:solidFill>
              </a:defRPr>
            </a:lvl2pPr>
            <a:lvl3pPr algn="ctr">
              <a:defRPr sz="1200" b="1">
                <a:solidFill>
                  <a:srgbClr val="143B65"/>
                </a:solidFill>
              </a:defRPr>
            </a:lvl3pPr>
            <a:lvl4pPr algn="ctr">
              <a:defRPr sz="1200" b="1">
                <a:solidFill>
                  <a:srgbClr val="143B65"/>
                </a:solidFill>
              </a:defRPr>
            </a:lvl4pPr>
            <a:lvl5pPr algn="ctr">
              <a:defRPr sz="1200" b="1">
                <a:solidFill>
                  <a:srgbClr val="143B65"/>
                </a:solidFill>
              </a:defRPr>
            </a:lvl5pPr>
            <a:lvl6pPr algn="ctr">
              <a:defRPr sz="1200" b="1">
                <a:solidFill>
                  <a:srgbClr val="143B65"/>
                </a:solidFill>
              </a:defRPr>
            </a:lvl6pPr>
            <a:lvl7pPr algn="ctr">
              <a:defRPr sz="1200" b="1">
                <a:solidFill>
                  <a:srgbClr val="143B65"/>
                </a:solidFill>
              </a:defRPr>
            </a:lvl7pPr>
            <a:lvl8pPr algn="ctr">
              <a:defRPr sz="1200" b="1">
                <a:solidFill>
                  <a:srgbClr val="143B65"/>
                </a:solidFill>
              </a:defRPr>
            </a:lvl8pPr>
            <a:lvl9pPr algn="ctr">
              <a:defRPr sz="1200" b="1">
                <a:solidFill>
                  <a:srgbClr val="143B65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43B65"/>
                </a:solidFill>
              </a:defRPr>
            </a:pPr>
            <a:r>
              <a:rPr sz="1200" b="1">
                <a:solidFill>
                  <a:srgbClr val="143B65"/>
                </a:solidFill>
              </a:rPr>
              <a:t>[TEAM NAME]</a:t>
            </a:r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D5D999C1-9707-4C32-8C53-FFD85E30A9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6edcdbf134e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5B383079-6439-41E6-8318-F40FB881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5143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11430">
            <a:solidFill>
              <a:srgbClr val="8DD4AE"/>
            </a:solidFill>
            <a:prstDash val="solid"/>
          </a:ln>
        </p:spPr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F24AA6F0-FE51-49CF-9684-4FCC7B97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35A"/>
                </a:solidFill>
                <a:latin typeface="Arial"/>
                <a:ea typeface="Arial"/>
                <a:cs typeface="Arial"/>
              </a:rPr>
              <a:t>BUILT &amp; TESTABLE NOW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A067E30D-423C-4AA5-BBDB-E3A536CD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47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Policy kernel + category capacity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Versioned CSV ingestion + correction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Transactional audit/outbox + idempotency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Governed casework + seven scoped roles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Containers, recovery, security and accessibility checks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D393AAE3-23E2-4D36-8A9E-2131231E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143000"/>
            <a:ext cx="5143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6ED"/>
          </a:solidFill>
          <a:ln xmlns:a="http://schemas.openxmlformats.org/drawingml/2006/main" w="11430">
            <a:solidFill>
              <a:srgbClr val="FED7AA"/>
            </a:solidFill>
            <a:prstDash val="solid"/>
          </a:ln>
        </p:spPr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61306157-6649-4363-B278-1BC63192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52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86A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6A00"/>
                </a:solidFill>
                <a:latin typeface="Arial"/>
                <a:ea typeface="Arial"/>
                <a:cs typeface="Arial"/>
              </a:rPr>
              <a:t>AUTHORITY-CONTROLLED NEXT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79A98BC1-DAA0-4E4A-BD0D-FA8A8301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47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Official APAAR/API Setu credentials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AICTE SSO, approval feed and signing service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Production hosting, keys, SLO/RTO/RPO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Privacy, legal and security approvals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Representative supervised pilot cohort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118BFBE9-4BEA-4F5F-A8F2-F301B321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RISK → CONTROL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B1957846-561E-4F3B-9B65-DBE9B562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5143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EF"/>
            </a:solidFill>
            <a:prstDash val="solid"/>
          </a:ln>
        </p:spPr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5932290B-BADC-464C-979B-54F713FD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05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Policy ambiguity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8742773B-62D4-4DDD-ACB7-6D05A859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148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5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835069F4-E79E-4B13-90B0-45313CD0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Manual review; never invent authority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282046E9-AB4A-42C4-9687-8047FC74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91000"/>
            <a:ext cx="5143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EF"/>
            </a:solidFill>
            <a:prstDash val="solid"/>
          </a:ln>
        </p:spPr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116F5508-4BDC-4F82-A323-DD7984FB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05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Provider outage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F423DE61-B10A-42D4-A415-6D03C468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148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5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C8A64B13-AEDB-468C-8818-9B045ED5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Explicit outage state + safe retry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A9BFD0D3-0C8F-4202-8ED9-FEE01B28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5143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EF"/>
            </a:solidFill>
            <a:prstDash val="solid"/>
          </a:ln>
        </p:spPr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8303AA6A-5AF4-4C3F-A64B-AEF122DC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81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Duplicate / final seat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743A7C55-91A7-4FC7-A0B7-F3221969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911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5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63C0D2E0-EA15-47CF-A08F-42F91C51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625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Idempotency + serializable lock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F46B4C45-A531-4DA4-A924-34BE19B5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67300"/>
            <a:ext cx="5143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3EF"/>
            </a:solidFill>
            <a:prstDash val="solid"/>
          </a:ln>
        </p:spPr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E6530868-B1D1-48A3-B991-4D01454B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181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Privacy leakage</a:t>
            </a:r>
          </a:p>
        </p:txBody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89AE8A86-8069-4C18-8B8E-EF6C1D6B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9112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5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7D5723B8-C129-45C4-9050-8216A37B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6255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Data minimisation + scoped audit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4BB63A45-BB0A-4283-9A77-6ED442E14F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DFFD520B-2E28-4E9D-AECA-56A7408E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050EC3-17F3-46BA-8D31-084BF1CF8D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040C636-F648-4583-8B9E-4F4716A728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defRPr sz="975">
                <a:solidFill>
                  <a:srgbClr val="FFFFFF"/>
                </a:solidFill>
              </a:defRPr>
            </a:lvl1pPr>
            <a:lvl2pPr algn="ctr">
              <a:defRPr sz="975">
                <a:solidFill>
                  <a:srgbClr val="FFFFFF"/>
                </a:solidFill>
              </a:defRPr>
            </a:lvl2pPr>
            <a:lvl3pPr algn="ctr">
              <a:defRPr sz="975">
                <a:solidFill>
                  <a:srgbClr val="FFFFFF"/>
                </a:solidFill>
              </a:defRPr>
            </a:lvl3pPr>
            <a:lvl4pPr algn="ctr">
              <a:defRPr sz="975">
                <a:solidFill>
                  <a:srgbClr val="FFFFFF"/>
                </a:solidFill>
              </a:defRPr>
            </a:lvl4pPr>
            <a:lvl5pPr algn="ctr">
              <a:defRPr sz="975">
                <a:solidFill>
                  <a:srgbClr val="FFFFFF"/>
                </a:solidFill>
              </a:defRPr>
            </a:lvl5pPr>
            <a:lvl6pPr algn="ctr">
              <a:defRPr sz="975">
                <a:solidFill>
                  <a:srgbClr val="FFFFFF"/>
                </a:solidFill>
              </a:defRPr>
            </a:lvl6pPr>
            <a:lvl7pPr algn="ctr">
              <a:defRPr sz="975">
                <a:solidFill>
                  <a:srgbClr val="FFFFFF"/>
                </a:solidFill>
              </a:defRPr>
            </a:lvl7pPr>
            <a:lvl8pPr algn="ctr">
              <a:defRPr sz="975">
                <a:solidFill>
                  <a:srgbClr val="FFFFFF"/>
                </a:solidFill>
              </a:defRPr>
            </a:lvl8pPr>
            <a:lvl9pPr algn="ctr"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>
                <a:solidFill>
                  <a:srgbClr val="FFFFFF"/>
                </a:solidFill>
              </a:defRPr>
            </a:pPr>
            <a:r>
              <a:rPr sz="975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PS 26263  |  Admission Registry  |  5/6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43B65"/>
                </a:solidFill>
              </a:defRPr>
            </a:defPPr>
            <a:lvl1pPr algn="ctr">
              <a:defRPr sz="1200" b="1">
                <a:solidFill>
                  <a:srgbClr val="143B65"/>
                </a:solidFill>
              </a:defRPr>
            </a:lvl1pPr>
            <a:lvl2pPr algn="ctr">
              <a:defRPr sz="1200" b="1">
                <a:solidFill>
                  <a:srgbClr val="143B65"/>
                </a:solidFill>
              </a:defRPr>
            </a:lvl2pPr>
            <a:lvl3pPr algn="ctr">
              <a:defRPr sz="1200" b="1">
                <a:solidFill>
                  <a:srgbClr val="143B65"/>
                </a:solidFill>
              </a:defRPr>
            </a:lvl3pPr>
            <a:lvl4pPr algn="ctr">
              <a:defRPr sz="1200" b="1">
                <a:solidFill>
                  <a:srgbClr val="143B65"/>
                </a:solidFill>
              </a:defRPr>
            </a:lvl4pPr>
            <a:lvl5pPr algn="ctr">
              <a:defRPr sz="1200" b="1">
                <a:solidFill>
                  <a:srgbClr val="143B65"/>
                </a:solidFill>
              </a:defRPr>
            </a:lvl5pPr>
            <a:lvl6pPr algn="ctr">
              <a:defRPr sz="1200" b="1">
                <a:solidFill>
                  <a:srgbClr val="143B65"/>
                </a:solidFill>
              </a:defRPr>
            </a:lvl6pPr>
            <a:lvl7pPr algn="ctr">
              <a:defRPr sz="1200" b="1">
                <a:solidFill>
                  <a:srgbClr val="143B65"/>
                </a:solidFill>
              </a:defRPr>
            </a:lvl7pPr>
            <a:lvl8pPr algn="ctr">
              <a:defRPr sz="1200" b="1">
                <a:solidFill>
                  <a:srgbClr val="143B65"/>
                </a:solidFill>
              </a:defRPr>
            </a:lvl8pPr>
            <a:lvl9pPr algn="ctr">
              <a:defRPr sz="1200" b="1">
                <a:solidFill>
                  <a:srgbClr val="143B65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43B65"/>
                </a:solidFill>
              </a:defRPr>
            </a:pPr>
            <a:r>
              <a:rPr sz="1200" b="1">
                <a:solidFill>
                  <a:srgbClr val="143B65"/>
                </a:solidFill>
              </a:rPr>
              <a:t>[TEAM NAME]</a:t>
            </a:r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4F02B7FF-8E75-46D6-AEB5-934D69330B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94c4edbc74b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E7575548-639C-49E9-BD04-A6520E0B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02870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PREVENT HARM TODAY. IMPROVE POLICY BEFORE TOMORROW.</a:t>
            </a:r>
          </a:p>
        </p:txBody>
      </p:sp>
      <p:graphicFrame>
        <p:nvGraphicFramePr>
          <p:cNvPr id="17412" name="Chart">
            <a:extLst xmlns:a="http://schemas.openxmlformats.org/drawingml/2006/main">
              <a:ext uri="{FF2B5EF4-FFF2-40B4-BE49-F238E27FC236}">
                <a16:creationId xmlns:a16="http://schemas.microsoft.com/office/drawing/2014/main" id="{C5BB6C46-6D04-416F-B153-C57899F061FE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433387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03bd9c73f44277"/>
          </a:graphicData>
        </a:graphic>
      </p:graphicFrame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A53294EE-F94B-4FDE-BE6F-699E6FC9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625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A"/>
          </a:solidFill>
          <a:ln xmlns:a="http://schemas.openxmlformats.org/drawingml/2006/main" w="0">
            <a:solidFill>
              <a:srgbClr val="1683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+9 policy-valid access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E6A64082-0E29-4439-B687-74588583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excess still blocked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32BE1537-EB89-46D6-99E9-17903EE5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>
                <a:solidFill>
                  <a:srgbClr val="536579"/>
                </a:solidFill>
                <a:latin typeface="Arial"/>
                <a:ea typeface="Arial"/>
                <a:cs typeface="Arial"/>
              </a:defRPr>
            </a:defPPr>
            <a:lvl1pPr algn="ctr">
              <a:defRPr sz="1125">
                <a:solidFill>
                  <a:srgbClr val="536579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>
                <a:solidFill>
                  <a:srgbClr val="536579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>
                <a:solidFill>
                  <a:srgbClr val="536579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>
                <a:solidFill>
                  <a:srgbClr val="536579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>
                <a:solidFill>
                  <a:srgbClr val="536579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>
                <a:solidFill>
                  <a:srgbClr val="536579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>
                <a:solidFill>
                  <a:srgbClr val="536579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>
                <a:solidFill>
                  <a:srgbClr val="536579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>
                <a:solidFill>
                  <a:srgbClr val="53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579"/>
                </a:solidFill>
                <a:latin typeface="Arial"/>
                <a:ea typeface="Arial"/>
                <a:cs typeface="Arial"/>
              </a:rPr>
              <a:t>Scenario evidence only — synthetic cohort, deterministic rules, zero live writes.</a:t>
            </a:r>
          </a:p>
        </p:txBody>
      </p:sp>
      <p:pic>
        <p:nvPic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57DB0760-A7AB-46CE-93A4-3DF2F827FD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f077c74544c40"/>
          <a:srcRect xmlns:a="http://schemas.openxmlformats.org/drawingml/2006/main" l="0" t="29858" r="0" b="29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1571625"/>
            <a:ext cx="600075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6A4BFB0A-FF70-4F3C-85B9-92C83199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197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DD51D301-17B0-4A7F-943F-7307AFE4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219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Explainable identity-linked record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DFC9B963-BDDE-478B-8756-AEA40B1C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197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INSTITUTION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B3BC5B76-EB40-4BD9-B57F-F243154E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219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Row correction + defensible receipt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4F27A637-3E7F-47AA-A9B1-900816E7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6769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AICTE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EBB61F85-1F73-4A64-8EDF-414848C2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676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Intake integrity + policy foresight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A2C9B9E3-C8B6-4258-A095-83862703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6769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VERIFIER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089A0C58-1751-42AE-8FB2-7BFEAAFF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676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2033"/>
                </a:solidFill>
                <a:latin typeface="Arial"/>
                <a:ea typeface="Arial"/>
                <a:cs typeface="Arial"/>
              </a:rPr>
              <a:t>Purpose-limited audit trail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  <a:miter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CB0C6FF-D968-4A7B-8D5E-5196622862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4E12455F-F767-44BA-A952-08F27984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2CD9289-7CB5-47DC-83BF-031F6AE8EA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8534C74-22FA-4343-ACE2-6B77819B73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>
            <a:defPPr algn="ctr">
              <a:defRPr sz="975">
                <a:solidFill>
                  <a:srgbClr val="FFFFFF"/>
                </a:solidFill>
              </a:defRPr>
            </a:defPPr>
            <a:lvl1pPr algn="ctr">
              <a:defRPr sz="975">
                <a:solidFill>
                  <a:srgbClr val="FFFFFF"/>
                </a:solidFill>
              </a:defRPr>
            </a:lvl1pPr>
            <a:lvl2pPr algn="ctr">
              <a:defRPr sz="975">
                <a:solidFill>
                  <a:srgbClr val="FFFFFF"/>
                </a:solidFill>
              </a:defRPr>
            </a:lvl2pPr>
            <a:lvl3pPr algn="ctr">
              <a:defRPr sz="975">
                <a:solidFill>
                  <a:srgbClr val="FFFFFF"/>
                </a:solidFill>
              </a:defRPr>
            </a:lvl3pPr>
            <a:lvl4pPr algn="ctr">
              <a:defRPr sz="975">
                <a:solidFill>
                  <a:srgbClr val="FFFFFF"/>
                </a:solidFill>
              </a:defRPr>
            </a:lvl4pPr>
            <a:lvl5pPr algn="ctr">
              <a:defRPr sz="975">
                <a:solidFill>
                  <a:srgbClr val="FFFFFF"/>
                </a:solidFill>
              </a:defRPr>
            </a:lvl5pPr>
            <a:lvl6pPr algn="ctr">
              <a:defRPr sz="975">
                <a:solidFill>
                  <a:srgbClr val="FFFFFF"/>
                </a:solidFill>
              </a:defRPr>
            </a:lvl6pPr>
            <a:lvl7pPr algn="ctr">
              <a:defRPr sz="975">
                <a:solidFill>
                  <a:srgbClr val="FFFFFF"/>
                </a:solidFill>
              </a:defRPr>
            </a:lvl7pPr>
            <a:lvl8pPr algn="ctr">
              <a:defRPr sz="975">
                <a:solidFill>
                  <a:srgbClr val="FFFFFF"/>
                </a:solidFill>
              </a:defRPr>
            </a:lvl8pPr>
            <a:lvl9pPr algn="ctr"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>
                <a:solidFill>
                  <a:srgbClr val="FFFFFF"/>
                </a:solidFill>
              </a:defRPr>
            </a:pPr>
            <a:r>
              <a:rPr sz="975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TradeGothic"/>
                <a:ea typeface="TradeGothic"/>
                <a:cs typeface="TradeGothic"/>
              </a:rPr>
              <a:t>PS 26263  |  Admission Registry  |  6/6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43B65"/>
                </a:solidFill>
              </a:defRPr>
            </a:defPPr>
            <a:lvl1pPr algn="ctr">
              <a:defRPr sz="1200" b="1">
                <a:solidFill>
                  <a:srgbClr val="143B65"/>
                </a:solidFill>
              </a:defRPr>
            </a:lvl1pPr>
            <a:lvl2pPr algn="ctr">
              <a:defRPr sz="1200" b="1">
                <a:solidFill>
                  <a:srgbClr val="143B65"/>
                </a:solidFill>
              </a:defRPr>
            </a:lvl2pPr>
            <a:lvl3pPr algn="ctr">
              <a:defRPr sz="1200" b="1">
                <a:solidFill>
                  <a:srgbClr val="143B65"/>
                </a:solidFill>
              </a:defRPr>
            </a:lvl3pPr>
            <a:lvl4pPr algn="ctr">
              <a:defRPr sz="1200" b="1">
                <a:solidFill>
                  <a:srgbClr val="143B65"/>
                </a:solidFill>
              </a:defRPr>
            </a:lvl4pPr>
            <a:lvl5pPr algn="ctr">
              <a:defRPr sz="1200" b="1">
                <a:solidFill>
                  <a:srgbClr val="143B65"/>
                </a:solidFill>
              </a:defRPr>
            </a:lvl5pPr>
            <a:lvl6pPr algn="ctr">
              <a:defRPr sz="1200" b="1">
                <a:solidFill>
                  <a:srgbClr val="143B65"/>
                </a:solidFill>
              </a:defRPr>
            </a:lvl6pPr>
            <a:lvl7pPr algn="ctr">
              <a:defRPr sz="1200" b="1">
                <a:solidFill>
                  <a:srgbClr val="143B65"/>
                </a:solidFill>
              </a:defRPr>
            </a:lvl7pPr>
            <a:lvl8pPr algn="ctr">
              <a:defRPr sz="1200" b="1">
                <a:solidFill>
                  <a:srgbClr val="143B65"/>
                </a:solidFill>
              </a:defRPr>
            </a:lvl8pPr>
            <a:lvl9pPr algn="ctr">
              <a:defRPr sz="1200" b="1">
                <a:solidFill>
                  <a:srgbClr val="143B65"/>
                </a:solidFill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143B65"/>
                </a:solidFill>
              </a:defRPr>
            </a:pPr>
            <a:r>
              <a:rPr sz="1200" b="1">
                <a:solidFill>
                  <a:srgbClr val="143B65"/>
                </a:solidFill>
              </a:rPr>
              <a:t>[TEAM NAME]</a:t>
            </a:r>
            <a:endParaRPr/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2C54E627-4096-48E4-AC62-BEEE45FC75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8509bb3f340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7C74AEFC-BFB2-4FE3-93B5-12CE4C25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668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43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B65"/>
                </a:solidFill>
                <a:latin typeface="Arial"/>
                <a:ea typeface="Arial"/>
                <a:cs typeface="Arial"/>
              </a:rPr>
              <a:t>AUTHORITATIVE RULES + EXECUTABLE PROOF</a:t>
            </a:r>
          </a:p>
        </p:txBody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E3F37BDB-F896-4966-915C-FAB7F002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5286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EDF5FB"/>
          </a:solidFill>
          <a:ln xmlns:a="http://schemas.openxmlformats.org/drawingml/2006/main" w="11430">
            <a:solidFill>
              <a:srgbClr val="A7CDE7"/>
            </a:solidFill>
            <a:prstDash val="solid"/>
          </a:ln>
        </p:spPr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8627497A-C201-4B4C-B93B-80828E79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85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0C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C0"/>
                </a:solidFill>
                <a:latin typeface="Arial"/>
                <a:ea typeface="Arial"/>
                <a:cs typeface="Arial"/>
              </a:rPr>
              <a:t>PRIMARY SOURCES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D54AA289-4BF4-4A09-BE81-9E4D7618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4667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1  AICTE Approval Process Handbook 2024–2027</a:t>
            </a:r>
          </a:p>
          <a:p xmlns:a="http://schemas.openxmlformats.org/drawingml/2006/main">
            <a: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    aicte-india.org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2  APAAR About, Privacy Policy and Terms</a:t>
            </a:r>
          </a:p>
          <a:p xmlns:a="http://schemas.openxmlformats.org/drawingml/2006/main">
            <a: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    apaar.education.gov.in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3  API Setu ABC / APAAR catalogue + consumer SOP</a:t>
            </a:r>
          </a:p>
          <a:p xmlns:a="http://schemas.openxmlformats.org/drawingml/2006/main">
            <a: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    directory.apisetu.gov.in  ·  apisetu.gov.in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4  SIH 2026 format and evaluation guidance</a:t>
            </a:r>
          </a:p>
          <a:p xmlns:a="http://schemas.openxmlformats.org/drawingml/2006/main">
            <a:pPr>
              <a:defRPr sz="1350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033"/>
                </a:solidFill>
                <a:latin typeface="Arial"/>
                <a:ea typeface="Arial"/>
                <a:cs typeface="Arial"/>
              </a:rPr>
              <a:t>    sih.gov.in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ECC9BB83-7AA4-4DC7-BC3B-7B6EC4E6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28637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11430">
            <a:solidFill>
              <a:srgbClr val="9AD6B5"/>
            </a:solidFill>
            <a:prstDash val="solid"/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7D0429A5-8430-4E7F-8FD6-4526964A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683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835A"/>
                </a:solidFill>
                <a:latin typeface="Arial"/>
                <a:ea typeface="Arial"/>
                <a:cs typeface="Arial"/>
              </a:rPr>
              <a:t>REPOSITORY EVIDENCE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CC5D1486-A9CD-40D5-8F75-AE5DC251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✓ Domain rule corpus + stable rule codes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✓ Real PostgreSQL migration/concurrency suites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✓ Batch, casework and integration contracts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✓ Full-system restart-persistence journey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✓ Seven-role accessibility checks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✓ Container, recovery, audit and secret scans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✓ SBOM and recursive licence inventory</a:t>
            </a:r>
          </a:p>
          <a:p xmlns:a="http://schemas.openxmlformats.org/drawingml/2006/main">
            <a:pPr>
              <a:defRPr sz="1425">
                <a:solidFill>
                  <a:srgbClr val="14203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033"/>
                </a:solidFill>
                <a:latin typeface="Arial"/>
                <a:ea typeface="Arial"/>
                <a:cs typeface="Arial"/>
              </a:rPr>
              <a:t>✓ Synthetic identifiers only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A529037E-DBF2-45B5-91D8-ADD30A97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B65"/>
          </a:solidFill>
          <a:ln xmlns:a="http://schemas.openxmlformats.org/drawingml/2006/main" w="0">
            <a:solidFill>
              <a:srgbClr val="143B6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JUDGE GUIDE + REPOSITORY QR WILL BE ADDED AFTER GITHUB URL IS SET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2026-10-27T16:09:06.6060000Z</dcterms:created>
  <dcterms:modified xsi:type="dcterms:W3CDTF">2026-10-27T16:09:06.6060000Z</dcterms:modified>
</coreProperties>
</file>